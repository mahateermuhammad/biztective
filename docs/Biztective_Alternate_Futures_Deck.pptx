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9400000" y="92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F9F5EE">
              <a:alpha val="18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10800000" y="2100000"/>
            <a:ext cx="240000" cy="240000"/>
          </a:xfrm>
          <a:prstGeom prst="star4">
            <a:avLst>
              <a:gd name="adj" fmla="val 18000"/>
            </a:avLst>
          </a:prstGeom>
          <a:solidFill>
            <a:srgbClr val="FFC7AA">
              <a:alpha val="24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7800000" y="4400000"/>
            <a:ext cx="720000" cy="720000"/>
          </a:xfrm>
          <a:prstGeom prst="star4">
            <a:avLst>
              <a:gd name="adj" fmla="val 18000"/>
            </a:avLst>
          </a:prstGeom>
          <a:solidFill>
            <a:srgbClr val="F9F5EE">
              <a:alpha val="12000"/>
            </a:srgbClr>
          </a:solidFill>
          <a:ln>
            <a:noFill/>
          </a:ln>
        </p:spPr>
      </p:sp>
      <p:sp>
        <p:nvSpPr>
          <p:cNvPr id="5" name="AF Ring 5"/>
          <p:cNvSpPr/>
          <p:nvPr/>
        </p:nvSpPr>
        <p:spPr>
          <a:xfrm>
            <a:off x="10400000" y="4900000"/>
            <a:ext cx="2200000" cy="2200000"/>
          </a:xfrm>
          <a:prstGeom prst="ellipse">
            <a:avLst/>
          </a:prstGeom>
          <a:noFill/>
          <a:ln w="38100">
            <a:solidFill>
              <a:srgbClr val="FFC7AA">
                <a:alpha val="18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FFC7AA"/>
                </a:solidFill>
                <a:latin typeface="JetBrains Mono"/>
                <a:cs typeface="JetBrains Mono"/>
              </a:rPr>
              <a:t>ALTERNATE FUTURES  ·  BIZTECTIVE (ROOT 2.0) · PHASES 1–12 COMPLETE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FFC7AA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Clouds by Alternate Futures</a:t>
            </a:r>
          </a:p>
        </p:txBody>
      </p:sp>
      <p:sp>
        <p:nvSpPr>
          <p:cNvPr id="8" name="Rect 8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F9F5EE">
              <a:alpha val="22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40000" y="1050000"/>
            <a:ext cx="10600000" cy="2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3600" b="1" i="0" dirty="0">
                <a:solidFill>
                  <a:srgbClr val="FFFFFF"/>
                </a:solidFill>
                <a:latin typeface="Instrument Sans"/>
                <a:cs typeface="Instrument Sans"/>
              </a:rPr>
              <a:t>Biztective (ROOT 2.0) on Clouds by Alternate Futures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900" b="0" i="1" dirty="0">
                <a:solidFill>
                  <a:srgbClr val="FFC7AA"/>
                </a:solidFill>
                <a:latin typeface="Instrument Serif"/>
                <a:cs typeface="Instrument Serif"/>
              </a:rPr>
              <a:t>"Dual-source financial root-cause investigation and verified operational recovery on decentralized cloud infrastructure."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400" b="0" i="0" dirty="0">
                <a:solidFill>
                  <a:srgbClr val="F9F5EE"/>
                </a:solidFill>
                <a:latin typeface="Instrument Sans"/>
                <a:cs typeface="Instrument Sans"/>
              </a:rPr>
              <a:t>Onboard via 4-file CSV upload or read-only PostgreSQL connector (AMD-24). Zero LLM math fabrication. Every claim cites source rows, and every Google Sheets write is owner-approved and verified by cell-by-cell read-back.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0000" y="3950000"/>
            <a:ext cx="3500000" cy="19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LIVE FRONTEND (NEXT.JS 16 · v1.0.3)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https://root-web-app.alternatefutures.ai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Service: root-web · DSEQ 29100447 · CSV + Postgres UI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20000" y="3950000"/>
            <a:ext cx="3500000" cy="19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LIVE BACKEND (FASTAPI + LANGGRAPH)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https://root-api-app.alternatefutures.ai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Service: root-api · DSEQ 29100292 · Alembic 0008 Head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00000" y="3950000"/>
            <a:ext cx="3500000" cy="19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DUAL-SOURCE &amp; QUALITY GATES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CSV Upload + Read-Only PostgreSQL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786+22 Pytest · 67 Vitest · 17 Playwright E2E · 23 RLS Tables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FFC7AA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FFC7AA"/>
                </a:solidFill>
                <a:latin typeface="JetBrains Mono"/>
                <a:cs typeface="JetBrains Mono"/>
              </a:rPr>
              <a:t>SLIDE 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600000" y="90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BE4200">
              <a:alpha val="14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600000" y="17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000AFF">
              <a:alpha val="15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800000" y="5400000"/>
            <a:ext cx="380000" cy="380000"/>
          </a:xfrm>
          <a:prstGeom prst="star4">
            <a:avLst>
              <a:gd name="adj" fmla="val 18000"/>
            </a:avLst>
          </a:prstGeom>
          <a:solidFill>
            <a:srgbClr val="000AFF">
              <a:alpha val="10000"/>
            </a:srgb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01 · THE ENGINEERING PROBLEM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Why Generic AI Analytics Fails</a:t>
            </a:r>
          </a:p>
        </p:txBody>
      </p:sp>
      <p:sp>
        <p:nvSpPr>
          <p:cNvPr id="7" name="Rect 7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40000" y="920000"/>
            <a:ext cx="1090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Dashboards Show What Changed. Raw LLMs Hallucinate Why.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400" b="0" i="0" dirty="0">
                <a:solidFill>
                  <a:srgbClr val="1A1A1A"/>
                </a:solidFill>
                <a:latin typeface="Instrument Sans"/>
                <a:cs typeface="Instrument Sans"/>
              </a:rPr>
              <a:t>When net margin drops across 500,000 order lines, businesses need provable root causes and safe recovery actions — not invented prose or unapproved API mutations.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00" y="220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BE4200"/>
                </a:solidFill>
                <a:latin typeface="JetBrains Mono"/>
                <a:cs typeface="JetBrains Mono"/>
              </a:rPr>
              <a:t>FAILURE MODE 01 · CONTRACT R-10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Invented Financial Math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Raw LLMs over CSVs or databases fabricate revenue deltas, miscount restockable COGS on returns, and change answers between runs.
Fix: Deterministic SQL + Python Decimal modules compute every number.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20000" y="220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BE4200"/>
                </a:solidFill>
                <a:latin typeface="JetBrains Mono"/>
                <a:cs typeface="JetBrains Mono"/>
              </a:rPr>
              <a:t>FAILURE MODE 02 · CONTRACT R-11 / R-12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Opaque Uncited Claims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Black-box summaries conflate dataset facts with hypotheses and lack row-level provenance or sample-size validation.
Fix: Every claim binds to an EvidencePayload and passes critic.py.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000000" y="220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BE4200"/>
                </a:solidFill>
                <a:latin typeface="JetBrains Mono"/>
                <a:cs typeface="JetBrains Mono"/>
              </a:rPr>
              <a:t>FAILURE MODE 03 · CONTRACT R-13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Uncontrolled Side Effects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Giving an LLM direct database or spreadsheet write tools risks unapproved customer contact, formula injection, or duplicate rows.
Fix: Zero LLM write tools; owner approves a SHA-256 plan hash.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0000" y="5250000"/>
            <a:ext cx="10860000" cy="880000"/>
          </a:xfrm>
          <a:prstGeom prst="roundRect">
            <a:avLst>
              <a:gd name="adj" fmla="val 8000"/>
            </a:avLst>
          </a:prstGeom>
          <a:solidFill>
            <a:srgbClr val="C8E0E4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1" i="0" dirty="0">
                <a:solidFill>
                  <a:srgbClr val="0000AF"/>
                </a:solidFill>
                <a:latin typeface="Instrument Sans"/>
                <a:cs typeface="Instrument Sans"/>
              </a:rPr>
              <a:t>EPISTEMIC BADGE CONTRACT: Every UI element is explicitly labeled Fact, Hypothesis, Human Input, Estimate, or Action — never by color alone (WCAG 2.2 AA).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800000" y="1000000"/>
            <a:ext cx="400000" cy="400000"/>
          </a:xfrm>
          <a:prstGeom prst="star4">
            <a:avLst>
              <a:gd name="adj" fmla="val 18000"/>
            </a:avLst>
          </a:prstGeom>
          <a:solidFill>
            <a:srgbClr val="000AFF">
              <a:alpha val="14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900000" y="48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000AFF">
              <a:alpha val="18000"/>
            </a:srgbClr>
          </a:solidFill>
          <a:ln>
            <a:noFill/>
          </a:ln>
        </p:spPr>
      </p:sp>
      <p:sp>
        <p:nvSpPr>
          <p:cNvPr id="4" name="AF Ring 4"/>
          <p:cNvSpPr/>
          <p:nvPr/>
        </p:nvSpPr>
        <p:spPr>
          <a:xfrm>
            <a:off x="10700000" y="-400000"/>
            <a:ext cx="1800000" cy="1800000"/>
          </a:xfrm>
          <a:prstGeom prst="ellipse">
            <a:avLst/>
          </a:prstGeom>
          <a:noFill/>
          <a:ln w="38100">
            <a:solidFill>
              <a:srgbClr val="000AFF">
                <a:alpha val="12000"/>
              </a:srgbClr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02 · FOUR-LAYER SYSTEM ARCHITECTURE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Shared Canonical Engine</a:t>
            </a:r>
          </a:p>
        </p:txBody>
      </p:sp>
      <p:sp>
        <p:nvSpPr>
          <p:cNvPr id="7" name="Rect 7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40000" y="90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500" b="1" i="0" dirty="0">
                <a:solidFill>
                  <a:srgbClr val="0000AF"/>
                </a:solidFill>
                <a:latin typeface="Instrument Sans"/>
                <a:cs typeface="Instrument Sans"/>
              </a:rPr>
              <a:t>Dual-Source Onboarding Into One Deterministic Investigation &amp; Recovery Pipeline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00" y="1700000"/>
            <a:ext cx="2600000" cy="31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LAYER 1 · DUAL ONBOARDING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CSV Upload &amp; Read-Only DB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4-file CSV upload OR read-only PostgreSQL extraction (AMD-24).
• Both enter inspect_file → create_dataset (&lt;=50 MB, &lt;=500k rows).
• Quarantines V-001..V-022 defects, strips PII (SEC-08) &amp; =+-@ formulas.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400000" y="1700000"/>
            <a:ext cx="2600000" cy="31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LAYER 2 · ANALYTICS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Deterministic SQL Engine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Exact Decimal formulas in app/analytics/.
• Gross/net revenue, COGS, restockable return reversals, RFM customer segments.
• analysis_config v1 statistical anomaly detection.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60000" y="1700000"/>
            <a:ext cx="2600000" cy="31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LAYER 3 · LANGGRAPH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Investigation &amp; Critic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10-node state machine in PostgreSQL (langgraph.checkpoints).
• Read-only SQL tools + deterministic critic (critic.py).
• Placeholder contract ({{metric:...}}) prevents number fabrication.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920000" y="1700000"/>
            <a:ext cx="2600000" cy="31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LAYER 4 · RECOVERY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HITL &amp; Sheets Executor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Immutable versioned plans (v1, v2...) with sha256 content hashes.
• Owner-only approval (recovery:approve).
• Writes ROOT Review Tasks &amp; Service Queue + cell-by-cell read-back.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5050000"/>
            <a:ext cx="10880000" cy="110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DETERMINISTIC ACTION IDENTITY &amp; IDEMPOTENCY (AMD-18)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JetBrains Mono"/>
                <a:cs typeface="JetBrains Mono"/>
              </a:rPr>
              <a:t>action_id = uuid5(ACTION_NAMESPACE, f"{plan_id}:{version}:{content_hash}:sheets.write_recovery_tasks")
idempotency_key = sha256(f"{action_id}:{payload_hash}")   # Row key &lt;action_id_hex&gt;-&lt;n&gt; in Column 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500000" y="95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F9F5EE">
              <a:alpha val="14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11100000" y="23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FFC7AA">
              <a:alpha val="20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850000" y="5200000"/>
            <a:ext cx="340000" cy="340000"/>
          </a:xfrm>
          <a:prstGeom prst="star4">
            <a:avLst>
              <a:gd name="adj" fmla="val 18000"/>
            </a:avLst>
          </a:prstGeom>
          <a:solidFill>
            <a:srgbClr val="A5B2FF">
              <a:alpha val="15000"/>
            </a:srgbClr>
          </a:solidFill>
          <a:ln>
            <a:noFill/>
          </a:ln>
        </p:spPr>
      </p:sp>
      <p:sp>
        <p:nvSpPr>
          <p:cNvPr id="5" name="AF Ring 5"/>
          <p:cNvSpPr/>
          <p:nvPr/>
        </p:nvSpPr>
        <p:spPr>
          <a:xfrm>
            <a:off x="10300000" y="4800000"/>
            <a:ext cx="2100000" cy="2100000"/>
          </a:xfrm>
          <a:prstGeom prst="ellipse">
            <a:avLst/>
          </a:prstGeom>
          <a:noFill/>
          <a:ln w="38100">
            <a:solidFill>
              <a:srgbClr val="FFC7AA">
                <a:alpha val="15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A5B2FF"/>
                </a:solidFill>
                <a:latin typeface="JetBrains Mono"/>
                <a:cs typeface="JetBrains Mono"/>
              </a:rPr>
              <a:t>ALTERNATE FUTURES  ·  03 · PHASE 12: DUAL-SOURCE ONBOARDING &amp; POSTGRES CONNECTOR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FFC7AA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AMD-24 · Migration 0008</a:t>
            </a:r>
          </a:p>
        </p:txBody>
      </p:sp>
      <p:sp>
        <p:nvSpPr>
          <p:cNvPr id="8" name="Rect 8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F9F5EE">
              <a:alpha val="22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40000" y="90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600" b="1" i="0" dirty="0">
                <a:solidFill>
                  <a:srgbClr val="F9F5EE"/>
                </a:solidFill>
                <a:latin typeface="Instrument Sans"/>
                <a:cs typeface="Instrument Sans"/>
              </a:rPr>
              <a:t>Read-Only PostgreSQL Business Source &amp; 8-Scenario Product Test Pack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0" i="0" dirty="0">
                <a:solidFill>
                  <a:srgbClr val="FFC7AA"/>
                </a:solidFill>
                <a:latin typeface="Instrument Sans"/>
                <a:cs typeface="Instrument Sans"/>
              </a:rPr>
              <a:t>Businesses onboard either via 4-file CSV upload or by connecting a read-only PostgreSQL database (/datasets/connect). Both paths feed one canonical pipeline with identical weekly metrics.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0000" y="205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ZERO STORED PASSWORDS · MIGRATION 0008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Tenant-Isolated Connections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New source_connections table with forced RLS (AMD-3) and NO password column.
• Passwords are never stored, logged, or returned; each manual Sync Now prompts for the password.
• datasets tracks source_type ('upload' | 'postgres') &amp; source_connection_id.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20000" y="205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SSRF, TLS &amp; READ-ONLY ENFORCEMENT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Hardened Connector (postgres.py)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Resolves host once, blocks loopback/private/link-local/169.254.169.254, and pins IP via hostaddr against DNS rebinding.
• TLS verify-full default (bundled Supabase CA).
• default_transaction_read_only=on, BEGIN READ ONLY, 10s connect / 20s statement timeouts.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00000" y="2050000"/>
            <a:ext cx="3500000" cy="28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CANONICAL EQUIVALENCE &amp; TEST PACK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Immutable Snapshots + 8 Scenarios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Identifier regex ^[a-z_][a-z0-9_]{0,62}$ + information_schema check + sql.Identifier.
• Checksum deduplication returns 'unchanged' on identical data or creates a new immutable dataset version.
• 8-scenario test-data/ pack (CSV + Postgres demo_shop).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5080000"/>
            <a:ext cx="10880000" cy="112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PHASE 12 ENDPOINTS &amp; VERIFIED EQUIVALENCE (app/sources/router.py · 22 Connector Tests + 67 Vitest)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JetBrains Mono"/>
                <a:cs typeface="JetBrains Mono"/>
              </a:rPr>
              <a:t>POST /sources/test  ·  POST /sources  ·  GET /sources  ·  POST /sources/{id}/sync
test_sync_matches_csv_upload: syncing seed-7 data (17,377 orders, 1,500 customers, 120 products, 811 returns) from PostgreSQL produces identical weekly metrics to CSV upload.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A5B2F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A5B2FF"/>
                </a:solidFill>
                <a:latin typeface="JetBrains Mono"/>
                <a:cs typeface="JetBrains Mono"/>
              </a:rPr>
              <a:t>SLIDE 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500000" y="100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F9F5EE">
              <a:alpha val="14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11100000" y="24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FFC7AA">
              <a:alpha val="20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900000" y="5200000"/>
            <a:ext cx="380000" cy="380000"/>
          </a:xfrm>
          <a:prstGeom prst="star4">
            <a:avLst>
              <a:gd name="adj" fmla="val 18000"/>
            </a:avLst>
          </a:prstGeom>
          <a:solidFill>
            <a:srgbClr val="A5B2FF">
              <a:alpha val="14000"/>
            </a:srgbClr>
          </a:solidFill>
          <a:ln>
            <a:noFill/>
          </a:ln>
        </p:spPr>
      </p:sp>
      <p:sp>
        <p:nvSpPr>
          <p:cNvPr id="5" name="AF Ring 5"/>
          <p:cNvSpPr/>
          <p:nvPr/>
        </p:nvSpPr>
        <p:spPr>
          <a:xfrm>
            <a:off x="-500000" y="4800000"/>
            <a:ext cx="2000000" cy="2000000"/>
          </a:xfrm>
          <a:prstGeom prst="ellipse">
            <a:avLst/>
          </a:prstGeom>
          <a:noFill/>
          <a:ln w="38100">
            <a:solidFill>
              <a:srgbClr val="A5B2FF">
                <a:alpha val="15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A5B2FF"/>
                </a:solidFill>
                <a:latin typeface="JetBrains Mono"/>
                <a:cs typeface="JetBrains Mono"/>
              </a:rPr>
              <a:t>ALTERNATE FUTURES  ·  04 · STATE MACHINE &amp; HUMAN-IN-THE-LOOP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FFC7AA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Durable PostgreSQL Checkpoints</a:t>
            </a:r>
          </a:p>
        </p:txBody>
      </p:sp>
      <p:sp>
        <p:nvSpPr>
          <p:cNvPr id="8" name="Rect 8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F9F5EE">
              <a:alpha val="22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40000" y="920000"/>
            <a:ext cx="109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Ten-Stage Verified Pipeline Across Human &amp; Container Restarts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400" b="1" i="0" dirty="0">
                <a:solidFill>
                  <a:srgbClr val="FFC7AA"/>
                </a:solidFill>
                <a:latin typeface="JetBrains Mono"/>
                <a:cs typeface="JetBrains Mono"/>
              </a:rPr>
              <a:t>Upload/Sync → Analyze → Detect → Investigate → Clarify → Revise → Plan → Approve → Execute → Verify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0000" y="2150000"/>
            <a:ext cx="5300000" cy="280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A5B2FF"/>
                </a:solidFill>
                <a:latin typeface="JetBrains Mono"/>
                <a:cs typeface="JetBrains Mono"/>
              </a:rPr>
              <a:t>INVESTIGATION SUBGRAPH (10 NODES)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F9F5EE"/>
                </a:solidFill>
                <a:latin typeface="Instrument Sans"/>
                <a:cs typeface="Instrument Sans"/>
              </a:rPr>
              <a:t>Evidence Gathering → Critic → Clarification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load_context → plan_checks → run_verification executes read-only SQL checks for return spikes and vendor defects.
• critic → decide_next enforces sample size and time-window rules.
• ask_human pauses at awaiting_human in langgraph.checkpoints; each owner answer creates an immutable interpretation_versions row (v1 → v2).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20000" y="2150000"/>
            <a:ext cx="5300000" cy="280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FFC7AA"/>
                </a:solidFill>
                <a:latin typeface="JetBrains Mono"/>
                <a:cs typeface="JetBrains Mono"/>
              </a:rPr>
              <a:t>RECOVERY &amp; GOOGLE SHEETS EXECUTOR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F9F5EE"/>
                </a:solidFill>
                <a:latin typeface="Instrument Sans"/>
                <a:cs typeface="Instrument Sans"/>
              </a:rPr>
              <a:t>Bounded Estimation → Approval → Read-Back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recovery/estimator.py calculates low/mid/high recovery ranges with explicit assumptions.
• Decision Panel binds owner approval to (plan_id, version, content_hash).
• actions/executor.py reconciles existing keys, appends missing rows, and verifies cell-by-cell (pending → succeeded → verified).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0000" y="5150000"/>
            <a:ext cx="10880000" cy="100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LIVE GOOGLE SHEETS BRIDGE VERIFICATION (AMD-19 / AMD-20)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Action 668e72cb-df08-5545-97d6-96e03454f2ed wrote 1 strategy row to ROOT Review Tasks and 3 customer rows to ROOT Service Queue, verified via independent cell-by-cell read-back in 33.46 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A5B2F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A5B2FF"/>
                </a:solidFill>
                <a:latin typeface="JetBrains Mono"/>
                <a:cs typeface="JetBrains Mono"/>
              </a:rPr>
              <a:t>SLIDE 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700000" y="95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000AFF">
              <a:alpha val="14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700000" y="18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BE4200">
              <a:alpha val="14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05 · PRODUCTION TOPOLOGY ON CLOUDS BY ALTERNATE FUTURES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Project: root-2</a:t>
            </a:r>
          </a:p>
        </p:txBody>
      </p:sp>
      <p:sp>
        <p:nvSpPr>
          <p:cNvPr id="6" name="Rect 6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40000" y="90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Containerized Multi-Service Deployment on Decentralized Compute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0" i="0" dirty="0">
                <a:solidFill>
                  <a:srgbClr val="1A1A1A"/>
                </a:solidFill>
                <a:latin typeface="Instrument Sans"/>
                <a:cs typeface="Instrument Sans"/>
              </a:rPr>
              <a:t>Deployed with @alternatefutures/acc v1.10.0 on Akash providers behind Clouds managed HTTPS ingress, connected to Supabase PostgreSQL over TLS.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0000" y="2050000"/>
            <a:ext cx="3500000" cy="40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FRONTEND SERVICE · root-web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0000AF"/>
                </a:solidFill>
                <a:latin typeface="JetBrains Mono"/>
                <a:cs typeface="JetBrains Mono"/>
              </a:rPr>
              <a:t>https://root-web-app.alternatefutures.ai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Service ID: cmvbx1b1016uebs1u7l6ge6p7
• Akash Lease DSEQ: 29100447
• Base: node:24.14.1-alpine3.21 (Standalone Next.js 16.4.2)
• Image: ttl.sh/root2-mahateer-web-1.0.3:24h
• Non-root UID 10001 · Port 3000 · Dual-Source Connect UI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20000" y="2050000"/>
            <a:ext cx="3500000" cy="40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BACKEND SERVICE · root-api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0000AF"/>
                </a:solidFill>
                <a:latin typeface="JetBrains Mono"/>
                <a:cs typeface="JetBrains Mono"/>
              </a:rPr>
              <a:t>https://root-api-app.alternatefutures.ai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Service ID: cmvbwfap014pibs1u7pxz2e5k
• Akash Lease DSEQ: 29100292
• Base: python:3.13-slim-bookworm (uv.lock frozen)
• Image: ttl.sh/root2-mahateer-api-1.0.3:24h
• Non-root UID 10001 · Port 8000 · --workers 1 · /api/v1/readyz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00000" y="2050000"/>
            <a:ext cx="3500000" cy="40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MANAGED POSTGRESQL · SUPABASE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0000AF"/>
                </a:solidFill>
                <a:latin typeface="JetBrains Mono"/>
                <a:cs typeface="JetBrains Mono"/>
              </a:rPr>
              <a:t>TLS sslmode=require · Alembic 0008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Runtime Role: root_app (NOSUPERUSER, NOBYPASSRLS)
• Migration Role: postgres (DATABASE_URL_MIGRATIONS)
• 23 Tenant Tables with FORCE/ENABLE ROW LEVEL SECURITY
• Demo Business Source: demo_shop via shop_reader role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600000" y="1050000"/>
            <a:ext cx="400000" cy="400000"/>
          </a:xfrm>
          <a:prstGeom prst="star4">
            <a:avLst>
              <a:gd name="adj" fmla="val 18000"/>
            </a:avLst>
          </a:prstGeom>
          <a:solidFill>
            <a:srgbClr val="000AFF">
              <a:alpha val="13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500000" y="4700000"/>
            <a:ext cx="240000" cy="240000"/>
          </a:xfrm>
          <a:prstGeom prst="star4">
            <a:avLst>
              <a:gd name="adj" fmla="val 18000"/>
            </a:avLst>
          </a:prstGeom>
          <a:solidFill>
            <a:srgbClr val="FFC7AA">
              <a:alpha val="26000"/>
            </a:srgbClr>
          </a:solidFill>
          <a:ln>
            <a:noFill/>
          </a:ln>
        </p:spPr>
      </p:sp>
      <p:sp>
        <p:nvSpPr>
          <p:cNvPr id="4" name="AF Ring 4"/>
          <p:cNvSpPr/>
          <p:nvPr/>
        </p:nvSpPr>
        <p:spPr>
          <a:xfrm>
            <a:off x="10500000" y="4900000"/>
            <a:ext cx="2000000" cy="2000000"/>
          </a:xfrm>
          <a:prstGeom prst="ellipse">
            <a:avLst/>
          </a:prstGeom>
          <a:noFill/>
          <a:ln w="38100">
            <a:solidFill>
              <a:srgbClr val="000AFF">
                <a:alpha val="12000"/>
              </a:srgbClr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06 · CONTAINER PORTABILITY &amp; FIRST-PARTY SECURITY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AMD-22 · ADR-010</a:t>
            </a:r>
          </a:p>
        </p:txBody>
      </p:sp>
      <p:sp>
        <p:nvSpPr>
          <p:cNvPr id="7" name="Rect 7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40000" y="90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Solving Build-Time Next.js Rewrites for Portable Cloud Containers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0" i="0" dirty="0">
                <a:solidFill>
                  <a:srgbClr val="1A1A1A"/>
                </a:solidFill>
                <a:latin typeface="Instrument Sans"/>
                <a:cs typeface="Instrument Sans"/>
              </a:rPr>
              <a:t>Next.js evaluates next.config.ts rewrites() at build time. Because Clouds assigns service URLs at deploy time, apps/web/src/proxy.ts rewrites /api/v1/* dynamically at request time.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0000" y="2050000"/>
            <a:ext cx="5300000" cy="25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REQUEST-TIME PROXY (apps/web/src/proxy.ts)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Dynamic BACKEND_URL Resolution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Intercepts /api/v1/:path* inside the Next.js server runtime.
• Reads process.env.BACKEND_URL injected via acc services env set without rebuilding the container.
• Generates per-request cryptographic CSP nonces on page routes.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20000" y="2050000"/>
            <a:ext cx="5300000" cy="25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AFF"/>
                </a:solidFill>
                <a:latin typeface="JetBrains Mono"/>
                <a:cs typeface="JetBrains Mono"/>
              </a:rPr>
              <a:t>FIRST-PARTY HTTPS COOKIE CONTRACT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__Host- Cookies &amp; Signed Double-Submit CSRF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Browser traffic stays 100% same-origin on https://root-web-app.alternatefutures.ai.
• __Host-root_session (Secure; HttpOnly; SameSite=Lax; Path=/) &amp; __Host-root_csrf (SameSite=Strict).
• Backend verifies Origin == FRONTEND_ORIGIN + HMAC-SHA256 CSRF token.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00" y="4800000"/>
            <a:ext cx="10880000" cy="13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// apps/web/src/proxy.ts — Request-time /api/v1/* rewrite (AMD-22)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F9F5EE"/>
                </a:solidFill>
                <a:latin typeface="JetBrains Mono"/>
                <a:cs typeface="JetBrains Mono"/>
              </a:rPr>
              <a:t>if (pathname.startsWith("/api/v1/")) {
  const target = new URL(`${pathname}${request.nextUrl.search}`, backendOrigin());
  return NextResponse.rewrite(target); // -&gt; https://root-api-app.alternatefutures.ai/api/v1/*
}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400000" y="95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F9F5EE">
              <a:alpha val="12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11100000" y="21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FFC7AA">
              <a:alpha val="18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900000" y="5300000"/>
            <a:ext cx="260000" cy="260000"/>
          </a:xfrm>
          <a:prstGeom prst="star4">
            <a:avLst>
              <a:gd name="adj" fmla="val 18000"/>
            </a:avLst>
          </a:prstGeom>
          <a:solidFill>
            <a:srgbClr val="A5B2FF">
              <a:alpha val="16000"/>
            </a:srgbClr>
          </a:solidFill>
          <a:ln>
            <a:noFill/>
          </a:ln>
        </p:spPr>
      </p:sp>
      <p:sp>
        <p:nvSpPr>
          <p:cNvPr id="5" name="AF Ring 5"/>
          <p:cNvSpPr/>
          <p:nvPr/>
        </p:nvSpPr>
        <p:spPr>
          <a:xfrm>
            <a:off x="-400000" y="-400000"/>
            <a:ext cx="1800000" cy="1800000"/>
          </a:xfrm>
          <a:prstGeom prst="ellipse">
            <a:avLst/>
          </a:prstGeom>
          <a:noFill/>
          <a:ln w="38100">
            <a:solidFill>
              <a:srgbClr val="FFC7AA">
                <a:alpha val="14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A5B2FF"/>
                </a:solidFill>
                <a:latin typeface="JetBrains Mono"/>
                <a:cs typeface="JetBrains Mono"/>
              </a:rPr>
              <a:t>ALTERNATE FUTURES  ·  07 · PHASE 10 TECHNICAL HARDENING AUDIT (AMD-21)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FFC7AA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16 Findings Remediated</a:t>
            </a:r>
          </a:p>
        </p:txBody>
      </p:sp>
      <p:sp>
        <p:nvSpPr>
          <p:cNvPr id="8" name="Rect 8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F9F5EE">
              <a:alpha val="22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40000" y="90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600" b="1" i="0" dirty="0">
                <a:solidFill>
                  <a:srgbClr val="F9F5EE"/>
                </a:solidFill>
                <a:latin typeface="Instrument Sans"/>
                <a:cs typeface="Instrument Sans"/>
              </a:rPr>
              <a:t>Hardened Against Concurrency Races, Stale Workers &amp; Ambiguous Writes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0000" y="1750000"/>
            <a:ext cx="3500000" cy="27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F10-01 · F10-02 · AUTH &amp; QUOTAS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Serialized Login Throttling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Ordered PostgreSQL advisory locks serialize concurrent login checks (12 parallel bad logins → 5 401s + 7 429s).
• Argon2 moved off event loop.
• 300 req/min session token bucket (10,000 cap).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20000" y="1750000"/>
            <a:ext cx="3500000" cy="27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F10-05 · F10-06 · JOB QUEUE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Attempt-Fenced Leases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Heartbeat, completion &amp; failure updates fenced by (job_id, status='running', attempts=leased_attempt).
• Replaced workers cannot corrupt active leases or fire duplicate failure hooks.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00000" y="1750000"/>
            <a:ext cx="3500000" cy="27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F10-09 · F10-10 · F10-11 · ACTIONS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700" b="1" i="0" dirty="0">
                <a:solidFill>
                  <a:srgbClr val="F9F5EE"/>
                </a:solidFill>
                <a:latin typeface="Instrument Sans"/>
                <a:cs typeface="Instrument Sans"/>
              </a:rPr>
              <a:t>Pre-Mutation Recheck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• Re-verifies plan approval &amp; integration binding before every external HTTP write (including tab creation).
• Post-redirect Apps Script errors reconcile via read-back before retry.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4700000"/>
            <a:ext cx="5300000" cy="14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A5B2FF"/>
                </a:solidFill>
                <a:latin typeface="JetBrains Mono"/>
                <a:cs typeface="JetBrains Mono"/>
              </a:rPr>
              <a:t>F10-03 · RECURSIVE LOG REDACTION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Structured JSON logger recursively redacts nested secret keys, sets SQLAlchemy hide_parameters=True, and strips raw SDK exception messages.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220000" y="4700000"/>
            <a:ext cx="5300000" cy="14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A5B2FF"/>
                </a:solidFill>
                <a:latin typeface="JetBrains Mono"/>
                <a:cs typeface="JetBrains Mono"/>
              </a:rPr>
              <a:t>F10-16 · 500K-ROW WINDOW DEDUPLICATION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F9F5EE"/>
                </a:solidFill>
                <a:latin typeface="Instrument Sans"/>
                <a:cs typeface="Instrument Sans"/>
              </a:rPr>
              <a:t>Replaced NOT IN retained-ID materialization with single-pass row_number() OVER (PARTITION BY key ORDER BY source_row), completing 500k ingest in 50.37 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A5B2F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A5B2FF"/>
                </a:solidFill>
                <a:latin typeface="JetBrains Mono"/>
                <a:cs typeface="JetBrains Mono"/>
              </a:rPr>
              <a:t>SLIDE 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600000" y="95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000AFF">
              <a:alpha val="13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600000" y="175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FFC7AA">
              <a:alpha val="26000"/>
            </a:srgb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08 · SOURCED BENCHMARKS &amp; QUALITY GATES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Zero Skipped Gates (R-5 / R-6)</a:t>
            </a:r>
          </a:p>
        </p:txBody>
      </p:sp>
      <p:sp>
        <p:nvSpPr>
          <p:cNvPr id="6" name="Rect 6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640000" y="900000"/>
            <a:ext cx="109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600" b="1" i="0" dirty="0">
                <a:solidFill>
                  <a:srgbClr val="0000AF"/>
                </a:solidFill>
                <a:latin typeface="Instrument Sans"/>
                <a:cs typeface="Instrument Sans"/>
              </a:rPr>
              <a:t>Measured Performance &amp; Test Verification Across Phases 1–12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0000" y="1650000"/>
            <a:ext cx="260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800" b="1" i="0" dirty="0">
                <a:solidFill>
                  <a:srgbClr val="000AFF"/>
                </a:solidFill>
                <a:latin typeface="Instrument Sans"/>
                <a:cs typeface="Instrument Sans"/>
              </a:rPr>
              <a:t>50.37 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500K ROWS + 25K RETURNS INGEST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18.7 MB CSV upload + ingest (NFR-02 target &lt;= 120 s). 100k rows in 15.02 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00000" y="1650000"/>
            <a:ext cx="260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800" b="1" i="0" dirty="0">
                <a:solidFill>
                  <a:srgbClr val="000AFF"/>
                </a:solidFill>
                <a:latin typeface="Instrument Sans"/>
                <a:cs typeface="Instrument Sans"/>
              </a:rPr>
              <a:t>265 ms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P95 CONCURRENT API READS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60 authenticated requests across 20 concurrent users (101.7 req/s; target &lt;= 300 ms).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160000" y="1650000"/>
            <a:ext cx="260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800" b="1" i="0" dirty="0">
                <a:solidFill>
                  <a:srgbClr val="000AFF"/>
                </a:solidFill>
                <a:latin typeface="Instrument Sans"/>
                <a:cs typeface="Instrument Sans"/>
              </a:rPr>
              <a:t>96.0%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BACKEND COVERAGE + 22 DB TESTS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786 core + 22 Phase 12 connector tests; all 7 critical modules &gt;= 95%.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920000" y="1650000"/>
            <a:ext cx="260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2800" b="1" i="0" dirty="0">
                <a:solidFill>
                  <a:srgbClr val="000AFF"/>
                </a:solidFill>
                <a:latin typeface="Instrument Sans"/>
                <a:cs typeface="Instrument Sans"/>
              </a:rPr>
              <a:t>67 + 17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VITEST UNIT + PLAYWRIGHT E2E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67 Vitest tests (incl. Postgres connect UI) + 17 Playwright E2E + axe WCAG 2.2 AA.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0000" y="3950000"/>
            <a:ext cx="10880000" cy="2200000"/>
          </a:xfrm>
          <a:prstGeom prst="roundRect">
            <a:avLst>
              <a:gd name="adj" fmla="val 8000"/>
            </a:avLst>
          </a:prstGeom>
          <a:solidFill>
            <a:srgbClr val="C8E0E4"/>
          </a:solidFill>
          <a:ln w="15875">
            <a:solidFill>
              <a:srgbClr val="0000A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0AF"/>
                </a:solidFill>
                <a:latin typeface="JetBrains Mono"/>
                <a:cs typeface="JetBrains Mono"/>
              </a:rPr>
              <a:t>ADDITIONAL VERIFIED BENCHMARKS (docs/ROOT_ENGINEERING_LOG.md)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500k Analysis &amp; Anomaly Detection: 16.12 s (46 SQL statements, 35 anomaly flags; target &lt;= 60 s)
• Investigation Start to First Question: 1.202–1.570 s (deterministic) / 1.070–2.076 s (LLM; target &lt;= 60 s)
• Phase 12 Dual-Source Equivalence: Local Postgres sync vs CSV upload yields 100% identical weekly metrics; Supabase TLS verify-full extracts 17,377 orders + 1,500 customers + 120 products + 811 returns
• Security &amp; Static Audits: 0 mypy --strict errors (166 files) · 0 ruff findings · 0 prod CVEs · 0 gitleaks findings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10600000" y="100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000AFF">
              <a:alpha val="12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9800000" y="4900000"/>
            <a:ext cx="220000" cy="220000"/>
          </a:xfrm>
          <a:prstGeom prst="star4">
            <a:avLst>
              <a:gd name="adj" fmla="val 18000"/>
            </a:avLst>
          </a:prstGeom>
          <a:solidFill>
            <a:srgbClr val="BE4200">
              <a:alpha val="14000"/>
            </a:srgbClr>
          </a:solidFill>
          <a:ln>
            <a:noFill/>
          </a:ln>
        </p:spPr>
      </p:sp>
      <p:sp>
        <p:nvSpPr>
          <p:cNvPr id="4" name="AF Ring 4"/>
          <p:cNvSpPr/>
          <p:nvPr/>
        </p:nvSpPr>
        <p:spPr>
          <a:xfrm>
            <a:off x="-400000" y="4900000"/>
            <a:ext cx="1800000" cy="1800000"/>
          </a:xfrm>
          <a:prstGeom prst="ellipse">
            <a:avLst/>
          </a:prstGeom>
          <a:noFill/>
          <a:ln w="38100">
            <a:solidFill>
              <a:srgbClr val="000AFF">
                <a:alpha val="12000"/>
              </a:srgbClr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000AFF"/>
                </a:solidFill>
                <a:latin typeface="JetBrains Mono"/>
                <a:cs typeface="JetBrains Mono"/>
              </a:rPr>
              <a:t>ALTERNATE FUTURES  ·  09 · DAY-2 OPERATIONS WITH ACC &amp; KNOWN LIMITATIONS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000AFF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FFFF"/>
                </a:solidFill>
                <a:latin typeface="JetBrains Mono"/>
                <a:cs typeface="JetBrains Mono"/>
              </a:rPr>
              <a:t>docs/DEPLOYMENT_GUIDE.md</a:t>
            </a:r>
          </a:p>
        </p:txBody>
      </p:sp>
      <p:sp>
        <p:nvSpPr>
          <p:cNvPr id="7" name="Rect 7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000AFF">
              <a:alpha val="2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40000" y="900000"/>
            <a:ext cx="5300000" cy="520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A5B2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FFC7AA"/>
                </a:solidFill>
                <a:latin typeface="JetBrains Mono"/>
                <a:cs typeface="JetBrains Mono"/>
              </a:rPr>
              <a:t>REDEPLOY &amp; ROLLBACK WITH THE ACC CLI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F9F5EE"/>
                </a:solidFill>
                <a:latin typeface="Instrument Sans"/>
                <a:cs typeface="Instrument Sans"/>
              </a:rPr>
              <a:t>Immutable Image Tags on Clouds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0" i="0" dirty="0">
                <a:solidFill>
                  <a:srgbClr val="F9F5EE"/>
                </a:solidFill>
                <a:latin typeface="JetBrains Mono"/>
                <a:cs typeface="JetBrains Mono"/>
              </a:rPr>
              <a:t># Clouds caches image tags on nodes &amp; rejects :latest/:main.
# Bump version tag (e.g. 1.0.3 -&gt; 1.0.4) on every change:
acc services deploy cmvbx1b1016uebs1u7l6ge6p7 \
  --image ttl.sh/root2-mahateer-web-1.0.3:24h -y
acc services deploy cmvbwfap014pibs1u7pxz2e5k \
  --image ttl.sh/root2-mahateer-api-1.0.3:24h -y
# Enable bundled Supabase CA on root-api (1.0.4):
acc services env set cmvbwfap014pibs1u7pxz2e5k \
  SOURCE_DB_SSLROOTCERT=/app/app/sources/certs/supabase-prod-ca-2021.crt
# Instant rollback to previous known-good tag:
acc services deploy cmvbwfap014pibs1u7pxz2e5k \
  --image ttl.sh/root2-mahateer-api-1.0.2:24h -y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220000" y="900000"/>
            <a:ext cx="5300000" cy="3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4200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BE4200"/>
                </a:solidFill>
                <a:latin typeface="JetBrains Mono"/>
                <a:cs typeface="JetBrains Mono"/>
              </a:rPr>
              <a:t>TRANSPARENCY · KNOWN LIMITATIONS (PHASES 11–12)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1" i="0" dirty="0">
                <a:solidFill>
                  <a:srgbClr val="0000AF"/>
                </a:solidFill>
                <a:latin typeface="Instrument Sans"/>
                <a:cs typeface="Instrument Sans"/>
              </a:rPr>
              <a:t>Honest Engineering Boundaries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• Phase 12 Sync Scope (AMD-24): Manual 'Sync now' full refresh only — no incremental watermark sync, scheduled sync, or XLSX import.
• Deployed Supabase CA (1.0.4 Pending): Bundled Supabase root CA is committed on main; deploying 1.0.4 + SOURCE_DB_SSLROOTCERT enables live Clouds → Supabase verify-full sync.
• Ephemeral OCI Registry (ttl.sh): 24h tags expire after 24 hours; re-run deploy-images.yml before redeploying after 24h.
• Single-Instance Memory: SEC-20 session token buckets run in-process (--workers 1).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20000" y="4500000"/>
            <a:ext cx="5300000" cy="1600000"/>
          </a:xfrm>
          <a:prstGeom prst="roundRect">
            <a:avLst>
              <a:gd name="adj" fmla="val 8000"/>
            </a:avLst>
          </a:prstGeom>
          <a:solidFill>
            <a:srgbClr val="C8E0E4"/>
          </a:solidFill>
          <a:ln w="15875">
            <a:solidFill>
              <a:srgbClr val="000AFF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SAFE SCHEMA ROLLBACK CONTRACT (R-14)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0" i="0" dirty="0">
                <a:solidFill>
                  <a:srgbClr val="1A1A1A"/>
                </a:solidFill>
                <a:latin typeface="Instrument Sans"/>
                <a:cs typeface="Instrument Sans"/>
              </a:rPr>
              <a:t>Container image rollbacks do not auto-downgrade PostgreSQL. All Alembic migrations (0001..0008) follow expand → migrate → contract so previous image tags stay compatible with the live schema.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0000AF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0000AF"/>
                </a:solidFill>
                <a:latin typeface="JetBrains Mono"/>
                <a:cs typeface="JetBrains Mono"/>
              </a:rPr>
              <a:t>SLIDE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F Star 2"/>
          <p:cNvSpPr/>
          <p:nvPr/>
        </p:nvSpPr>
        <p:spPr>
          <a:xfrm>
            <a:off x="9500000" y="950000"/>
            <a:ext cx="420000" cy="420000"/>
          </a:xfrm>
          <a:prstGeom prst="star4">
            <a:avLst>
              <a:gd name="adj" fmla="val 18000"/>
            </a:avLst>
          </a:prstGeom>
          <a:solidFill>
            <a:srgbClr val="F9F5EE">
              <a:alpha val="16000"/>
            </a:srgbClr>
          </a:solidFill>
          <a:ln>
            <a:noFill/>
          </a:ln>
        </p:spPr>
      </p:sp>
      <p:sp>
        <p:nvSpPr>
          <p:cNvPr id="3" name="AF Star 3"/>
          <p:cNvSpPr/>
          <p:nvPr/>
        </p:nvSpPr>
        <p:spPr>
          <a:xfrm>
            <a:off x="10900000" y="2300000"/>
            <a:ext cx="240000" cy="240000"/>
          </a:xfrm>
          <a:prstGeom prst="star4">
            <a:avLst>
              <a:gd name="adj" fmla="val 18000"/>
            </a:avLst>
          </a:prstGeom>
          <a:solidFill>
            <a:srgbClr val="FFC7AA">
              <a:alpha val="22000"/>
            </a:srgbClr>
          </a:solidFill>
          <a:ln>
            <a:noFill/>
          </a:ln>
        </p:spPr>
      </p:sp>
      <p:sp>
        <p:nvSpPr>
          <p:cNvPr id="4" name="AF Star 4"/>
          <p:cNvSpPr/>
          <p:nvPr/>
        </p:nvSpPr>
        <p:spPr>
          <a:xfrm>
            <a:off x="1200000" y="4800000"/>
            <a:ext cx="680000" cy="680000"/>
          </a:xfrm>
          <a:prstGeom prst="star4">
            <a:avLst>
              <a:gd name="adj" fmla="val 18000"/>
            </a:avLst>
          </a:prstGeom>
          <a:solidFill>
            <a:srgbClr val="F9F5EE">
              <a:alpha val="10000"/>
            </a:srgbClr>
          </a:solidFill>
          <a:ln>
            <a:noFill/>
          </a:ln>
        </p:spPr>
      </p:sp>
      <p:sp>
        <p:nvSpPr>
          <p:cNvPr id="5" name="AF Ring 5"/>
          <p:cNvSpPr/>
          <p:nvPr/>
        </p:nvSpPr>
        <p:spPr>
          <a:xfrm>
            <a:off x="10300000" y="-500000"/>
            <a:ext cx="2200000" cy="2200000"/>
          </a:xfrm>
          <a:prstGeom prst="ellipse">
            <a:avLst/>
          </a:prstGeom>
          <a:noFill/>
          <a:ln w="38100">
            <a:solidFill>
              <a:srgbClr val="FFC7AA">
                <a:alpha val="18000"/>
              </a:srgbClr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40000" y="280000"/>
            <a:ext cx="7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100" b="1" i="0" dirty="0">
                <a:solidFill>
                  <a:srgbClr val="FFC7AA"/>
                </a:solidFill>
                <a:latin typeface="JetBrains Mono"/>
                <a:cs typeface="JetBrains Mono"/>
              </a:rPr>
              <a:t>ALTERNATE FUTURES  ·  10 · LIVE DEMO JOURNEY &amp; VERIFICATION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00000" y="260000"/>
            <a:ext cx="3350000" cy="380000"/>
          </a:xfrm>
          <a:prstGeom prst="roundRect">
            <a:avLst>
              <a:gd name="adj" fmla="val 16000"/>
            </a:avLst>
          </a:prstGeom>
          <a:solidFill>
            <a:srgbClr val="FFC7AA"/>
          </a:solidFill>
          <a:ln>
            <a:noFill/>
          </a:ln>
        </p:spPr>
        <p:txBody>
          <a:bodyPr wrap="square" lIns="110000" tIns="70000" rIns="110000" bIns="7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0000AF"/>
                </a:solidFill>
                <a:latin typeface="JetBrains Mono"/>
                <a:cs typeface="JetBrains Mono"/>
              </a:rPr>
              <a:t>Live on Clouds by Alternate Futures</a:t>
            </a:r>
          </a:p>
        </p:txBody>
      </p:sp>
      <p:sp>
        <p:nvSpPr>
          <p:cNvPr id="8" name="Rect 8"/>
          <p:cNvSpPr/>
          <p:nvPr/>
        </p:nvSpPr>
        <p:spPr>
          <a:xfrm>
            <a:off x="640000" y="740000"/>
            <a:ext cx="10912000" cy="12700"/>
          </a:xfrm>
          <a:prstGeom prst="rect">
            <a:avLst/>
          </a:prstGeom>
          <a:solidFill>
            <a:srgbClr val="F9F5EE">
              <a:alpha val="22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640000" y="950000"/>
            <a:ext cx="106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3400" b="1" i="0" dirty="0">
                <a:solidFill>
                  <a:srgbClr val="FFFFFF"/>
                </a:solidFill>
                <a:latin typeface="Instrument Sans"/>
                <a:cs typeface="Instrument Sans"/>
              </a:rPr>
              <a:t>Try Biztective Live on Clouds by Alternate Futures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800" b="0" i="1" dirty="0">
                <a:solidFill>
                  <a:srgbClr val="FFC7AA"/>
                </a:solidFill>
                <a:latin typeface="Instrument Serif"/>
                <a:cs typeface="Instrument Serif"/>
              </a:rPr>
              <a:t>"Infrastructure that flows, not locks — paired with dual-source financial root-cause analysis you can audit down to the row."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40000" y="2800000"/>
            <a:ext cx="10880000" cy="1650000"/>
          </a:xfrm>
          <a:prstGeom prst="roundRect">
            <a:avLst>
              <a:gd name="adj" fmla="val 8000"/>
            </a:avLst>
          </a:prstGeom>
          <a:solidFill>
            <a:srgbClr val="0A0A0A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0" i="0" dirty="0">
                <a:solidFill>
                  <a:srgbClr val="A5B2FF"/>
                </a:solidFill>
                <a:latin typeface="JetBrains Mono"/>
                <a:cs typeface="JetBrains Mono"/>
              </a:rPr>
              <a:t># 6-Minute Demo Flow: Sign In -&gt; Dual Onboarding (CSV or Postgres demo_shop) -&gt; Investigate -&gt; Replay v1/v2 -&gt; Plan -&gt; Verified Sheets Write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1" i="0" dirty="0">
                <a:solidFill>
                  <a:srgbClr val="FFC7AA"/>
                </a:solidFill>
                <a:latin typeface="JetBrains Mono"/>
                <a:cs typeface="JetBrains Mono"/>
              </a:rPr>
              <a:t>curl -sS https://root-web-app.alternatefutures.ai/api/v1/readyz   # -&gt; {"status":"ready"} (Alembic 0008 + 23 RLS tables)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0" i="0" dirty="0">
                <a:solidFill>
                  <a:srgbClr val="A5B2FF"/>
                </a:solidFill>
                <a:latin typeface="JetBrains Mono"/>
                <a:cs typeface="JetBrains Mono"/>
              </a:rPr>
              <a:t># Run end-to-end Playwright browser tests against the deployed Clouds URL: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200" b="1" i="0" dirty="0">
                <a:solidFill>
                  <a:srgbClr val="FFC7AA"/>
                </a:solidFill>
                <a:latin typeface="JetBrains Mono"/>
                <a:cs typeface="JetBrains Mono"/>
              </a:rPr>
              <a:t>PLAYWRIGHT_REMOTE_URL=https://root-web-app.alternatefutures.ai npx playwright test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00" y="4650000"/>
            <a:ext cx="3500000" cy="14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PUBLIC WEB APP (v1.0.3)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https://root-web-app.alternatefutures.ai/login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320000" y="4650000"/>
            <a:ext cx="3500000" cy="14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SEEDED DEMO OWNER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demo.owner@root-demo.test (Northstar Apparel)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00000" y="4650000"/>
            <a:ext cx="3500000" cy="1450000"/>
          </a:xfrm>
          <a:prstGeom prst="roundRect">
            <a:avLst>
              <a:gd name="adj" fmla="val 8000"/>
            </a:avLst>
          </a:prstGeom>
          <a:solidFill>
            <a:srgbClr val="0000AF"/>
          </a:solidFill>
          <a:ln w="15875">
            <a:solidFill>
              <a:srgbClr val="FFC7AA"/>
            </a:solidFill>
          </a:ln>
        </p:spPr>
        <p:txBody>
          <a:bodyPr wrap="square" lIns="140000" tIns="110000" rIns="140000" bIns="11000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000" b="1" i="0" dirty="0">
                <a:solidFill>
                  <a:srgbClr val="FFC7AA"/>
                </a:solidFill>
                <a:latin typeface="JetBrains Mono"/>
                <a:cs typeface="JetBrains Mono"/>
              </a:rPr>
              <a:t>DOCS &amp; TEST PACK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1300" b="1" i="0" dirty="0">
                <a:solidFill>
                  <a:srgbClr val="FFFFFF"/>
                </a:solidFill>
                <a:latin typeface="JetBrains Mono"/>
                <a:cs typeface="JetBrains Mono"/>
              </a:rPr>
              <a:t>docs/DEPLOYMENT_GUIDE.md · test-data/ (AMD-24)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0000" y="6380000"/>
            <a:ext cx="82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0" i="0" dirty="0">
                <a:solidFill>
                  <a:srgbClr val="FFC7AA"/>
                </a:solidFill>
                <a:latin typeface="JetBrains Mono"/>
                <a:cs typeface="JetBrains Mono"/>
              </a:rPr>
              <a:t>Biztective (ROOT 2.0)  ·  Phases 1–12  ·  Clouds by Alternate Futures  ·  https://root-web-app.alternatefutures.ai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00000" y="6380000"/>
            <a:ext cx="115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en-US" sz="900" b="1" i="0" dirty="0">
                <a:solidFill>
                  <a:srgbClr val="FFC7AA"/>
                </a:solidFill>
                <a:latin typeface="JetBrains Mono"/>
                <a:cs typeface="JetBrains Mono"/>
              </a:rPr>
              <a:t>SLIDE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ernate Futures Brand Theme">
  <a:themeElements>
    <a:clrScheme name="Alternate Futures">
      <a:dk1>
        <a:srgbClr val="1A1A1A"/>
      </a:dk1>
      <a:lt1>
        <a:srgbClr val="F9F5EE"/>
      </a:lt1>
      <a:dk2>
        <a:srgbClr val="0000AF"/>
      </a:dk2>
      <a:lt2>
        <a:srgbClr val="FFFFFF"/>
      </a:lt2>
      <a:accent1>
        <a:srgbClr val="000AFF"/>
      </a:accent1>
      <a:accent2>
        <a:srgbClr val="0000AF"/>
      </a:accent2>
      <a:accent3>
        <a:srgbClr val="BE4200"/>
      </a:accent3>
      <a:accent4>
        <a:srgbClr val="A5B2FF"/>
      </a:accent4>
      <a:accent5>
        <a:srgbClr val="FFC7AA"/>
      </a:accent5>
      <a:accent6>
        <a:srgbClr val="C8E0E4"/>
      </a:accent6>
      <a:hlink>
        <a:srgbClr val="000AFF"/>
      </a:hlink>
      <a:folHlink>
        <a:srgbClr val="0000AF"/>
      </a:folHlink>
    </a:clrScheme>
    <a:fontScheme name="Alternate Futures Fonts">
      <a:majorFont>
        <a:latin typeface="Instrument Sans"/>
        <a:ea typeface=""/>
        <a:cs typeface=""/>
      </a:majorFont>
      <a:minorFont>
        <a:latin typeface="Instrument Sans"/>
        <a:ea typeface=""/>
        <a:cs typeface=""/>
      </a:minorFont>
    </a:fontScheme>
    <a:fmtScheme name="Alternate Futures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