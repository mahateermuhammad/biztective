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 Star 2"/>
          <p:cNvSpPr/>
          <p:nvPr/>
        </p:nvSpPr>
        <p:spPr>
          <a:xfrm>
            <a:off x="9400000" y="920000"/>
            <a:ext cx="420000" cy="420000"/>
          </a:xfrm>
          <a:prstGeom prst="star4">
            <a:avLst>
              <a:gd name="adj" fmla="val 18000"/>
            </a:avLst>
          </a:prstGeom>
          <a:solidFill>
            <a:srgbClr val="F9F5EE">
              <a:alpha val="18000"/>
            </a:srgbClr>
          </a:solidFill>
          <a:ln>
            <a:noFill/>
          </a:ln>
        </p:spPr>
      </p:sp>
      <p:sp>
        <p:nvSpPr>
          <p:cNvPr id="3" name="AF Star 3"/>
          <p:cNvSpPr/>
          <p:nvPr/>
        </p:nvSpPr>
        <p:spPr>
          <a:xfrm>
            <a:off x="10800000" y="2100000"/>
            <a:ext cx="240000" cy="240000"/>
          </a:xfrm>
          <a:prstGeom prst="star4">
            <a:avLst>
              <a:gd name="adj" fmla="val 18000"/>
            </a:avLst>
          </a:prstGeom>
          <a:solidFill>
            <a:srgbClr val="FFC7AA">
              <a:alpha val="24000"/>
            </a:srgbClr>
          </a:solidFill>
          <a:ln>
            <a:noFill/>
          </a:ln>
        </p:spPr>
      </p:sp>
      <p:sp>
        <p:nvSpPr>
          <p:cNvPr id="4" name="AF Star 4"/>
          <p:cNvSpPr/>
          <p:nvPr/>
        </p:nvSpPr>
        <p:spPr>
          <a:xfrm>
            <a:off x="7800000" y="4400000"/>
            <a:ext cx="720000" cy="720000"/>
          </a:xfrm>
          <a:prstGeom prst="star4">
            <a:avLst>
              <a:gd name="adj" fmla="val 18000"/>
            </a:avLst>
          </a:prstGeom>
          <a:solidFill>
            <a:srgbClr val="F9F5EE">
              <a:alpha val="12000"/>
            </a:srgbClr>
          </a:solidFill>
          <a:ln>
            <a:noFill/>
          </a:ln>
        </p:spPr>
      </p:sp>
      <p:sp>
        <p:nvSpPr>
          <p:cNvPr id="5" name="AF Ring 5"/>
          <p:cNvSpPr/>
          <p:nvPr/>
        </p:nvSpPr>
        <p:spPr>
          <a:xfrm>
            <a:off x="10400000" y="4900000"/>
            <a:ext cx="2200000" cy="2200000"/>
          </a:xfrm>
          <a:prstGeom prst="ellipse">
            <a:avLst/>
          </a:prstGeom>
          <a:noFill/>
          <a:ln w="38100">
            <a:solidFill>
              <a:srgbClr val="FFC7AA">
                <a:alpha val="18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640000" y="280000"/>
            <a:ext cx="6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1" i="0" dirty="0">
                <a:solidFill>
                  <a:srgbClr val="FFC7AA"/>
                </a:solidFill>
                <a:latin typeface="JetBrains Mono"/>
                <a:cs typeface="JetBrains Mono"/>
              </a:rPr>
              <a:t>ALTERNATE FUTURES  ·  BIZTECTIVE (ROOT 2.0) · PRODUCTION DEPLOYMENT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00000" y="260000"/>
            <a:ext cx="3350000" cy="380000"/>
          </a:xfrm>
          <a:prstGeom prst="roundRect">
            <a:avLst>
              <a:gd name="adj" fmla="val 16000"/>
            </a:avLst>
          </a:prstGeom>
          <a:solidFill>
            <a:srgbClr val="FFC7AA"/>
          </a:solidFill>
          <a:ln>
            <a:noFill/>
          </a:ln>
        </p:spPr>
        <p:txBody>
          <a:bodyPr wrap="square" lIns="110000" tIns="70000" rIns="110000" bIns="7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0000AF"/>
                </a:solidFill>
                <a:latin typeface="JetBrains Mono"/>
                <a:cs typeface="JetBrains Mono"/>
              </a:rPr>
              <a:t>Clouds by Alternate Futures</a:t>
            </a:r>
          </a:p>
        </p:txBody>
      </p:sp>
      <p:sp>
        <p:nvSpPr>
          <p:cNvPr id="8" name="Rect 8"/>
          <p:cNvSpPr/>
          <p:nvPr/>
        </p:nvSpPr>
        <p:spPr>
          <a:xfrm>
            <a:off x="640000" y="740000"/>
            <a:ext cx="10912000" cy="12700"/>
          </a:xfrm>
          <a:prstGeom prst="rect">
            <a:avLst/>
          </a:prstGeom>
          <a:solidFill>
            <a:srgbClr val="F9F5EE">
              <a:alpha val="2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40000" y="1050000"/>
            <a:ext cx="1060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3600" b="1" i="0" dirty="0">
                <a:solidFill>
                  <a:srgbClr val="FFFFFF"/>
                </a:solidFill>
                <a:latin typeface="Instrument Sans"/>
                <a:cs typeface="Instrument Sans"/>
              </a:rPr>
              <a:t>Biztective (ROOT 2.0) on Clouds by Alternate Futures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900" b="0" i="1" dirty="0">
                <a:solidFill>
                  <a:srgbClr val="FFC7AA"/>
                </a:solidFill>
                <a:latin typeface="Instrument Serif"/>
                <a:cs typeface="Instrument Serif"/>
              </a:rPr>
              <a:t>"Deterministic financial root-cause investigation and verified recovery on decentralized cloud infrastructure."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400" b="0" i="0" dirty="0">
                <a:solidFill>
                  <a:srgbClr val="F9F5EE"/>
                </a:solidFill>
                <a:latin typeface="Instrument Sans"/>
                <a:cs typeface="Instrument Sans"/>
              </a:rPr>
              <a:t>No LLM math fabrication. Every claim cites dataset source rows. Every external spreadsheet write is owner-approved and verified by read-back.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0000" y="3950000"/>
            <a:ext cx="3500000" cy="1950000"/>
          </a:xfrm>
          <a:prstGeom prst="roundRect">
            <a:avLst>
              <a:gd name="adj" fmla="val 8000"/>
            </a:avLst>
          </a:prstGeom>
          <a:solidFill>
            <a:srgbClr val="0000AF"/>
          </a:solidFill>
          <a:ln w="15875">
            <a:solidFill>
              <a:srgbClr val="FFC7AA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FFC7AA"/>
                </a:solidFill>
                <a:latin typeface="JetBrains Mono"/>
                <a:cs typeface="JetBrains Mono"/>
              </a:rPr>
              <a:t>LIVE FRONTEND (NEXT.JS 16)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300" b="1" i="0" dirty="0">
                <a:solidFill>
                  <a:srgbClr val="FFFFFF"/>
                </a:solidFill>
                <a:latin typeface="JetBrains Mono"/>
                <a:cs typeface="JetBrains Mono"/>
              </a:rPr>
              <a:t>https://root-web-app.alternatefutures.ai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0" i="0" dirty="0">
                <a:solidFill>
                  <a:srgbClr val="F9F5EE"/>
                </a:solidFill>
                <a:latin typeface="Instrument Sans"/>
                <a:cs typeface="Instrument Sans"/>
              </a:rPr>
              <a:t>Service: root-web · DSEQ 29100447 · UID 10001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20000" y="3950000"/>
            <a:ext cx="3500000" cy="1950000"/>
          </a:xfrm>
          <a:prstGeom prst="roundRect">
            <a:avLst>
              <a:gd name="adj" fmla="val 8000"/>
            </a:avLst>
          </a:prstGeom>
          <a:solidFill>
            <a:srgbClr val="0000AF"/>
          </a:solidFill>
          <a:ln w="15875">
            <a:solidFill>
              <a:srgbClr val="FFC7AA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FFC7AA"/>
                </a:solidFill>
                <a:latin typeface="JetBrains Mono"/>
                <a:cs typeface="JetBrains Mono"/>
              </a:rPr>
              <a:t>LIVE BACKEND (FASTAPI + LANGGRAPH)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300" b="1" i="0" dirty="0">
                <a:solidFill>
                  <a:srgbClr val="FFFFFF"/>
                </a:solidFill>
                <a:latin typeface="JetBrains Mono"/>
                <a:cs typeface="JetBrains Mono"/>
              </a:rPr>
              <a:t>https://root-api-app.alternatefutures.ai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0" i="0" dirty="0">
                <a:solidFill>
                  <a:srgbClr val="F9F5EE"/>
                </a:solidFill>
                <a:latin typeface="Instrument Sans"/>
                <a:cs typeface="Instrument Sans"/>
              </a:rPr>
              <a:t>Service: root-api · DSEQ 29100292 · UID 10001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00000" y="3950000"/>
            <a:ext cx="3500000" cy="1950000"/>
          </a:xfrm>
          <a:prstGeom prst="roundRect">
            <a:avLst>
              <a:gd name="adj" fmla="val 8000"/>
            </a:avLst>
          </a:prstGeom>
          <a:solidFill>
            <a:srgbClr val="0000AF"/>
          </a:solidFill>
          <a:ln w="15875">
            <a:solidFill>
              <a:srgbClr val="FFC7AA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FFC7AA"/>
                </a:solidFill>
                <a:latin typeface="JetBrains Mono"/>
                <a:cs typeface="JetBrains Mono"/>
              </a:rPr>
              <a:t>VERIFIED QUALITY &amp; SECURITY GATES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300" b="1" i="0" dirty="0">
                <a:solidFill>
                  <a:srgbClr val="FFFFFF"/>
                </a:solidFill>
                <a:latin typeface="JetBrains Mono"/>
                <a:cs typeface="JetBrains Mono"/>
              </a:rPr>
              <a:t>786 Pytest · 57 Vitest · 17 Playwright E2E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0" i="0" dirty="0">
                <a:solidFill>
                  <a:srgbClr val="F9F5EE"/>
                </a:solidFill>
                <a:latin typeface="Instrument Sans"/>
                <a:cs typeface="Instrument Sans"/>
              </a:rPr>
              <a:t>96% Backend Cov · WCAG 2.2 AA · 0 CVEs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0000" y="6380000"/>
            <a:ext cx="8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0" i="0" dirty="0">
                <a:solidFill>
                  <a:srgbClr val="FFC7AA"/>
                </a:solidFill>
                <a:latin typeface="JetBrains Mono"/>
                <a:cs typeface="JetBrains Mono"/>
              </a:rPr>
              <a:t>Biztective (ROOT 2.0)  ·  Clouds by Alternate Futures  ·  https://root-web-app.alternatefutures.ai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00000" y="6380000"/>
            <a:ext cx="115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1" i="0" dirty="0">
                <a:solidFill>
                  <a:srgbClr val="FFC7AA"/>
                </a:solidFill>
                <a:latin typeface="JetBrains Mono"/>
                <a:cs typeface="JetBrains Mono"/>
              </a:rPr>
              <a:t>SLIDE 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 Star 2"/>
          <p:cNvSpPr/>
          <p:nvPr/>
        </p:nvSpPr>
        <p:spPr>
          <a:xfrm>
            <a:off x="10600000" y="900000"/>
            <a:ext cx="420000" cy="420000"/>
          </a:xfrm>
          <a:prstGeom prst="star4">
            <a:avLst>
              <a:gd name="adj" fmla="val 18000"/>
            </a:avLst>
          </a:prstGeom>
          <a:solidFill>
            <a:srgbClr val="BE4200">
              <a:alpha val="14000"/>
            </a:srgbClr>
          </a:solidFill>
          <a:ln>
            <a:noFill/>
          </a:ln>
        </p:spPr>
      </p:sp>
      <p:sp>
        <p:nvSpPr>
          <p:cNvPr id="3" name="AF Star 3"/>
          <p:cNvSpPr/>
          <p:nvPr/>
        </p:nvSpPr>
        <p:spPr>
          <a:xfrm>
            <a:off x="9600000" y="1700000"/>
            <a:ext cx="220000" cy="220000"/>
          </a:xfrm>
          <a:prstGeom prst="star4">
            <a:avLst>
              <a:gd name="adj" fmla="val 18000"/>
            </a:avLst>
          </a:prstGeom>
          <a:solidFill>
            <a:srgbClr val="000AFF">
              <a:alpha val="15000"/>
            </a:srgbClr>
          </a:solidFill>
          <a:ln>
            <a:noFill/>
          </a:ln>
        </p:spPr>
      </p:sp>
      <p:sp>
        <p:nvSpPr>
          <p:cNvPr id="4" name="AF Star 4"/>
          <p:cNvSpPr/>
          <p:nvPr/>
        </p:nvSpPr>
        <p:spPr>
          <a:xfrm>
            <a:off x="800000" y="5400000"/>
            <a:ext cx="380000" cy="380000"/>
          </a:xfrm>
          <a:prstGeom prst="star4">
            <a:avLst>
              <a:gd name="adj" fmla="val 18000"/>
            </a:avLst>
          </a:prstGeom>
          <a:solidFill>
            <a:srgbClr val="000AFF">
              <a:alpha val="10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40000" y="280000"/>
            <a:ext cx="6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1" i="0" dirty="0">
                <a:solidFill>
                  <a:srgbClr val="000AFF"/>
                </a:solidFill>
                <a:latin typeface="JetBrains Mono"/>
                <a:cs typeface="JetBrains Mono"/>
              </a:rPr>
              <a:t>ALTERNATE FUTURES  ·  01 · THE ENGINEERING 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00000" y="260000"/>
            <a:ext cx="3350000" cy="380000"/>
          </a:xfrm>
          <a:prstGeom prst="roundRect">
            <a:avLst>
              <a:gd name="adj" fmla="val 16000"/>
            </a:avLst>
          </a:prstGeom>
          <a:solidFill>
            <a:srgbClr val="000AFF"/>
          </a:solidFill>
          <a:ln>
            <a:noFill/>
          </a:ln>
        </p:spPr>
        <p:txBody>
          <a:bodyPr wrap="square" lIns="110000" tIns="70000" rIns="110000" bIns="7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FFFFFF"/>
                </a:solidFill>
                <a:latin typeface="JetBrains Mono"/>
                <a:cs typeface="JetBrains Mono"/>
              </a:rPr>
              <a:t>Why Generic AI Analytics Fails</a:t>
            </a:r>
          </a:p>
        </p:txBody>
      </p:sp>
      <p:sp>
        <p:nvSpPr>
          <p:cNvPr id="7" name="Rect 7"/>
          <p:cNvSpPr/>
          <p:nvPr/>
        </p:nvSpPr>
        <p:spPr>
          <a:xfrm>
            <a:off x="640000" y="740000"/>
            <a:ext cx="10912000" cy="12700"/>
          </a:xfrm>
          <a:prstGeom prst="rect">
            <a:avLst/>
          </a:prstGeom>
          <a:solidFill>
            <a:srgbClr val="000AFF">
              <a:alpha val="22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40000" y="92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2800" b="1" i="0" dirty="0">
                <a:solidFill>
                  <a:srgbClr val="0000AF"/>
                </a:solidFill>
                <a:latin typeface="Instrument Sans"/>
                <a:cs typeface="Instrument Sans"/>
              </a:rPr>
              <a:t>Dashboards Show What Changed. Raw LLMs Hallucinate Why.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400" b="0" i="0" dirty="0">
                <a:solidFill>
                  <a:srgbClr val="1A1A1A"/>
                </a:solidFill>
                <a:latin typeface="Instrument Sans"/>
                <a:cs typeface="Instrument Sans"/>
              </a:rPr>
              <a:t>When net margin drops across 500,000 order lines, businesses need provable root causes and safe recovery actions — not invented prose or unapproved API mutations.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0000" y="2200000"/>
            <a:ext cx="3500000" cy="28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E4200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BE4200"/>
                </a:solidFill>
                <a:latin typeface="JetBrains Mono"/>
                <a:cs typeface="JetBrains Mono"/>
              </a:rPr>
              <a:t>FAILURE MODE 01 · CONTRACT R-10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800" b="1" i="0" dirty="0">
                <a:solidFill>
                  <a:srgbClr val="0000AF"/>
                </a:solidFill>
                <a:latin typeface="Instrument Sans"/>
                <a:cs typeface="Instrument Sans"/>
              </a:rPr>
              <a:t>Invented Financial Math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1A1A1A"/>
                </a:solidFill>
                <a:latin typeface="Instrument Sans"/>
                <a:cs typeface="Instrument Sans"/>
              </a:rPr>
              <a:t>Raw LLMs over CSVs fabricate revenue deltas, miscount restockable COGS on returns, and change answers between runs.
Fix: Deterministic SQL + Python Decimal modules compute every number.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20000" y="2200000"/>
            <a:ext cx="3500000" cy="28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E4200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BE4200"/>
                </a:solidFill>
                <a:latin typeface="JetBrains Mono"/>
                <a:cs typeface="JetBrains Mono"/>
              </a:rPr>
              <a:t>FAILURE MODE 02 · CONTRACT R-11 / R-12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800" b="1" i="0" dirty="0">
                <a:solidFill>
                  <a:srgbClr val="0000AF"/>
                </a:solidFill>
                <a:latin typeface="Instrument Sans"/>
                <a:cs typeface="Instrument Sans"/>
              </a:rPr>
              <a:t>Opaque Uncited Claims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1A1A1A"/>
                </a:solidFill>
                <a:latin typeface="Instrument Sans"/>
                <a:cs typeface="Instrument Sans"/>
              </a:rPr>
              <a:t>Black-box summaries conflate dataset facts with hypotheses and lack row-level provenance or sample-size validation.
Fix: Every claim binds to an EvidencePayload and passes critic.py.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00000" y="2200000"/>
            <a:ext cx="3500000" cy="28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E4200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BE4200"/>
                </a:solidFill>
                <a:latin typeface="JetBrains Mono"/>
                <a:cs typeface="JetBrains Mono"/>
              </a:rPr>
              <a:t>FAILURE MODE 03 · CONTRACT R-13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800" b="1" i="0" dirty="0">
                <a:solidFill>
                  <a:srgbClr val="0000AF"/>
                </a:solidFill>
                <a:latin typeface="Instrument Sans"/>
                <a:cs typeface="Instrument Sans"/>
              </a:rPr>
              <a:t>Uncontrolled Side Effects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1A1A1A"/>
                </a:solidFill>
                <a:latin typeface="Instrument Sans"/>
                <a:cs typeface="Instrument Sans"/>
              </a:rPr>
              <a:t>Giving an LLM direct write tools risks unapproved customer contact, spreadsheet formula injection, or duplicate rows.
Fix: Zero LLM write tools; owner approves a SHA-256 plan hash.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0000" y="5250000"/>
            <a:ext cx="10860000" cy="880000"/>
          </a:xfrm>
          <a:prstGeom prst="roundRect">
            <a:avLst>
              <a:gd name="adj" fmla="val 8000"/>
            </a:avLst>
          </a:prstGeom>
          <a:solidFill>
            <a:srgbClr val="C8E0E4"/>
          </a:solidFill>
          <a:ln w="15875">
            <a:solidFill>
              <a:srgbClr val="000A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1" i="0" dirty="0">
                <a:solidFill>
                  <a:srgbClr val="0000AF"/>
                </a:solidFill>
                <a:latin typeface="Instrument Sans"/>
                <a:cs typeface="Instrument Sans"/>
              </a:rPr>
              <a:t>EPISTEMIC BADGE CONTRACT: Every UI element is explicitly labeled Fact, Hypothesis, Human Input, Estimate, or Action — never by color alone (WCAG 2.2 AA).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0000" y="6380000"/>
            <a:ext cx="8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0" i="0" dirty="0">
                <a:solidFill>
                  <a:srgbClr val="0000AF"/>
                </a:solidFill>
                <a:latin typeface="JetBrains Mono"/>
                <a:cs typeface="JetBrains Mono"/>
              </a:rPr>
              <a:t>Biztective (ROOT 2.0)  ·  Clouds by Alternate Futures  ·  https://root-web-app.alternatefutures.ai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00000" y="6380000"/>
            <a:ext cx="115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1" i="0" dirty="0">
                <a:solidFill>
                  <a:srgbClr val="0000AF"/>
                </a:solidFill>
                <a:latin typeface="JetBrains Mono"/>
                <a:cs typeface="JetBrains Mono"/>
              </a:rPr>
              <a:t>SLIDE 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 Star 2"/>
          <p:cNvSpPr/>
          <p:nvPr/>
        </p:nvSpPr>
        <p:spPr>
          <a:xfrm>
            <a:off x="10800000" y="1000000"/>
            <a:ext cx="400000" cy="400000"/>
          </a:xfrm>
          <a:prstGeom prst="star4">
            <a:avLst>
              <a:gd name="adj" fmla="val 18000"/>
            </a:avLst>
          </a:prstGeom>
          <a:solidFill>
            <a:srgbClr val="000AFF">
              <a:alpha val="14000"/>
            </a:srgbClr>
          </a:solidFill>
          <a:ln>
            <a:noFill/>
          </a:ln>
        </p:spPr>
      </p:sp>
      <p:sp>
        <p:nvSpPr>
          <p:cNvPr id="3" name="AF Star 3"/>
          <p:cNvSpPr/>
          <p:nvPr/>
        </p:nvSpPr>
        <p:spPr>
          <a:xfrm>
            <a:off x="9900000" y="4800000"/>
            <a:ext cx="220000" cy="220000"/>
          </a:xfrm>
          <a:prstGeom prst="star4">
            <a:avLst>
              <a:gd name="adj" fmla="val 18000"/>
            </a:avLst>
          </a:prstGeom>
          <a:solidFill>
            <a:srgbClr val="000AFF">
              <a:alpha val="18000"/>
            </a:srgbClr>
          </a:solidFill>
          <a:ln>
            <a:noFill/>
          </a:ln>
        </p:spPr>
      </p:sp>
      <p:sp>
        <p:nvSpPr>
          <p:cNvPr id="4" name="AF Ring 4"/>
          <p:cNvSpPr/>
          <p:nvPr/>
        </p:nvSpPr>
        <p:spPr>
          <a:xfrm>
            <a:off x="10700000" y="-400000"/>
            <a:ext cx="1800000" cy="1800000"/>
          </a:xfrm>
          <a:prstGeom prst="ellipse">
            <a:avLst/>
          </a:prstGeom>
          <a:noFill/>
          <a:ln w="38100">
            <a:solidFill>
              <a:srgbClr val="000AFF">
                <a:alpha val="12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40000" y="280000"/>
            <a:ext cx="6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1" i="0" dirty="0">
                <a:solidFill>
                  <a:srgbClr val="000AFF"/>
                </a:solidFill>
                <a:latin typeface="JetBrains Mono"/>
                <a:cs typeface="JetBrains Mono"/>
              </a:rPr>
              <a:t>ALTERNATE FUTURES  ·  02 · FOUR-LAYER SYSTEM ARCHITECTURE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00000" y="260000"/>
            <a:ext cx="3350000" cy="380000"/>
          </a:xfrm>
          <a:prstGeom prst="roundRect">
            <a:avLst>
              <a:gd name="adj" fmla="val 16000"/>
            </a:avLst>
          </a:prstGeom>
          <a:solidFill>
            <a:srgbClr val="000AFF"/>
          </a:solidFill>
          <a:ln>
            <a:noFill/>
          </a:ln>
        </p:spPr>
        <p:txBody>
          <a:bodyPr wrap="square" lIns="110000" tIns="70000" rIns="110000" bIns="7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FFFFFF"/>
                </a:solidFill>
                <a:latin typeface="JetBrains Mono"/>
                <a:cs typeface="JetBrains Mono"/>
              </a:rPr>
              <a:t>Strict Deterministic Boundaries</a:t>
            </a:r>
          </a:p>
        </p:txBody>
      </p:sp>
      <p:sp>
        <p:nvSpPr>
          <p:cNvPr id="7" name="Rect 7"/>
          <p:cNvSpPr/>
          <p:nvPr/>
        </p:nvSpPr>
        <p:spPr>
          <a:xfrm>
            <a:off x="640000" y="740000"/>
            <a:ext cx="10912000" cy="12700"/>
          </a:xfrm>
          <a:prstGeom prst="rect">
            <a:avLst/>
          </a:prstGeom>
          <a:solidFill>
            <a:srgbClr val="000AFF">
              <a:alpha val="22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40000" y="900000"/>
            <a:ext cx="109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2600" b="1" i="0" dirty="0">
                <a:solidFill>
                  <a:srgbClr val="0000AF"/>
                </a:solidFill>
                <a:latin typeface="Instrument Sans"/>
                <a:cs typeface="Instrument Sans"/>
              </a:rPr>
              <a:t>How Biztective Turns Raw CSVs into Verified Operational Recovery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0000" y="1700000"/>
            <a:ext cx="2600000" cy="3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A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000AFF"/>
                </a:solidFill>
                <a:latin typeface="JetBrains Mono"/>
                <a:cs typeface="JetBrains Mono"/>
              </a:rPr>
              <a:t>LAYER 1 · INGESTION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600" b="1" i="0" dirty="0">
                <a:solidFill>
                  <a:srgbClr val="0000AF"/>
                </a:solidFill>
                <a:latin typeface="Instrument Sans"/>
                <a:cs typeface="Instrument Sans"/>
              </a:rPr>
              <a:t>Hygiene &amp; Quarantine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1A1A1A"/>
                </a:solidFill>
                <a:latin typeface="Instrument Sans"/>
                <a:cs typeface="Instrument Sans"/>
              </a:rPr>
              <a:t>• Streaming CSV validation (&lt;=50 MB, &lt;=500k rows across orders, products, customers, returns).
• Quarantines V-001..V-022 defects.
• Strips PII (SEC-08) &amp; neutralizes = + - @ formulas (SEC-09).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00000" y="1700000"/>
            <a:ext cx="2600000" cy="3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A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000AFF"/>
                </a:solidFill>
                <a:latin typeface="JetBrains Mono"/>
                <a:cs typeface="JetBrains Mono"/>
              </a:rPr>
              <a:t>LAYER 2 · ANALYTICS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600" b="1" i="0" dirty="0">
                <a:solidFill>
                  <a:srgbClr val="0000AF"/>
                </a:solidFill>
                <a:latin typeface="Instrument Sans"/>
                <a:cs typeface="Instrument Sans"/>
              </a:rPr>
              <a:t>Deterministic SQL Engine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1A1A1A"/>
                </a:solidFill>
                <a:latin typeface="Instrument Sans"/>
                <a:cs typeface="Instrument Sans"/>
              </a:rPr>
              <a:t>• Exact Decimal formulas in app/analytics/.
• Gross/net revenue, COGS, restockable return reversals, RFM customer segments.
• analysis_config v1 statistical anomaly detection.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60000" y="1700000"/>
            <a:ext cx="2600000" cy="3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A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000AFF"/>
                </a:solidFill>
                <a:latin typeface="JetBrains Mono"/>
                <a:cs typeface="JetBrains Mono"/>
              </a:rPr>
              <a:t>LAYER 3 · LANGGRAPH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600" b="1" i="0" dirty="0">
                <a:solidFill>
                  <a:srgbClr val="0000AF"/>
                </a:solidFill>
                <a:latin typeface="Instrument Sans"/>
                <a:cs typeface="Instrument Sans"/>
              </a:rPr>
              <a:t>Investigation &amp; Critic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1A1A1A"/>
                </a:solidFill>
                <a:latin typeface="Instrument Sans"/>
                <a:cs typeface="Instrument Sans"/>
              </a:rPr>
              <a:t>• 10-node state machine in PostgreSQL (langgraph.checkpoints).
• Read-only SQL tools + deterministic critic (critic.py).
• Placeholder contract ({{metric:...}}) prevents number fabrication.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20000" y="1700000"/>
            <a:ext cx="2600000" cy="3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A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000AFF"/>
                </a:solidFill>
                <a:latin typeface="JetBrains Mono"/>
                <a:cs typeface="JetBrains Mono"/>
              </a:rPr>
              <a:t>LAYER 4 · RECOVERY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600" b="1" i="0" dirty="0">
                <a:solidFill>
                  <a:srgbClr val="0000AF"/>
                </a:solidFill>
                <a:latin typeface="Instrument Sans"/>
                <a:cs typeface="Instrument Sans"/>
              </a:rPr>
              <a:t>HITL &amp; Sheets Executor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1A1A1A"/>
                </a:solidFill>
                <a:latin typeface="Instrument Sans"/>
                <a:cs typeface="Instrument Sans"/>
              </a:rPr>
              <a:t>• Immutable versioned plans (v1, v2...) with sha256 content hashes.
• Owner-only approval (recovery:approve).
• Writes ROOT Review Tasks &amp; Service Queue + cell-by-cell read-back.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0000" y="5050000"/>
            <a:ext cx="10880000" cy="110000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 w="15875">
            <a:solidFill>
              <a:srgbClr val="A5B2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FFC7AA"/>
                </a:solidFill>
                <a:latin typeface="JetBrains Mono"/>
                <a:cs typeface="JetBrains Mono"/>
              </a:rPr>
              <a:t>DETERMINISTIC ACTION IDENTITY &amp; IDEMPOTENCY (AMD-18)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0" i="0" dirty="0">
                <a:solidFill>
                  <a:srgbClr val="F9F5EE"/>
                </a:solidFill>
                <a:latin typeface="JetBrains Mono"/>
                <a:cs typeface="JetBrains Mono"/>
              </a:rPr>
              <a:t>action_id = uuid5(ACTION_NAMESPACE, f"{plan_id}:{version}:{content_hash}:sheets.write_recovery_tasks")
idempotency_key = sha256(f"{action_id}:{payload_hash}")   # Row key &lt;action_id_hex&gt;-&lt;n&gt; in Column 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0000" y="6380000"/>
            <a:ext cx="8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0" i="0" dirty="0">
                <a:solidFill>
                  <a:srgbClr val="0000AF"/>
                </a:solidFill>
                <a:latin typeface="JetBrains Mono"/>
                <a:cs typeface="JetBrains Mono"/>
              </a:rPr>
              <a:t>Biztective (ROOT 2.0)  ·  Clouds by Alternate Futures  ·  https://root-web-app.alternatefutures.ai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00000" y="6380000"/>
            <a:ext cx="115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1" i="0" dirty="0">
                <a:solidFill>
                  <a:srgbClr val="0000AF"/>
                </a:solidFill>
                <a:latin typeface="JetBrains Mono"/>
                <a:cs typeface="JetBrains Mono"/>
              </a:rPr>
              <a:t>SLIDE 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 Star 2"/>
          <p:cNvSpPr/>
          <p:nvPr/>
        </p:nvSpPr>
        <p:spPr>
          <a:xfrm>
            <a:off x="10500000" y="1000000"/>
            <a:ext cx="420000" cy="420000"/>
          </a:xfrm>
          <a:prstGeom prst="star4">
            <a:avLst>
              <a:gd name="adj" fmla="val 18000"/>
            </a:avLst>
          </a:prstGeom>
          <a:solidFill>
            <a:srgbClr val="F9F5EE">
              <a:alpha val="14000"/>
            </a:srgbClr>
          </a:solidFill>
          <a:ln>
            <a:noFill/>
          </a:ln>
        </p:spPr>
      </p:sp>
      <p:sp>
        <p:nvSpPr>
          <p:cNvPr id="3" name="AF Star 3"/>
          <p:cNvSpPr/>
          <p:nvPr/>
        </p:nvSpPr>
        <p:spPr>
          <a:xfrm>
            <a:off x="11100000" y="2400000"/>
            <a:ext cx="220000" cy="220000"/>
          </a:xfrm>
          <a:prstGeom prst="star4">
            <a:avLst>
              <a:gd name="adj" fmla="val 18000"/>
            </a:avLst>
          </a:prstGeom>
          <a:solidFill>
            <a:srgbClr val="FFC7AA">
              <a:alpha val="20000"/>
            </a:srgbClr>
          </a:solidFill>
          <a:ln>
            <a:noFill/>
          </a:ln>
        </p:spPr>
      </p:sp>
      <p:sp>
        <p:nvSpPr>
          <p:cNvPr id="4" name="AF Star 4"/>
          <p:cNvSpPr/>
          <p:nvPr/>
        </p:nvSpPr>
        <p:spPr>
          <a:xfrm>
            <a:off x="900000" y="5200000"/>
            <a:ext cx="380000" cy="380000"/>
          </a:xfrm>
          <a:prstGeom prst="star4">
            <a:avLst>
              <a:gd name="adj" fmla="val 18000"/>
            </a:avLst>
          </a:prstGeom>
          <a:solidFill>
            <a:srgbClr val="A5B2FF">
              <a:alpha val="14000"/>
            </a:srgbClr>
          </a:solidFill>
          <a:ln>
            <a:noFill/>
          </a:ln>
        </p:spPr>
      </p:sp>
      <p:sp>
        <p:nvSpPr>
          <p:cNvPr id="5" name="AF Ring 5"/>
          <p:cNvSpPr/>
          <p:nvPr/>
        </p:nvSpPr>
        <p:spPr>
          <a:xfrm>
            <a:off x="-500000" y="4800000"/>
            <a:ext cx="2000000" cy="2000000"/>
          </a:xfrm>
          <a:prstGeom prst="ellipse">
            <a:avLst/>
          </a:prstGeom>
          <a:noFill/>
          <a:ln w="38100">
            <a:solidFill>
              <a:srgbClr val="A5B2FF">
                <a:alpha val="15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640000" y="280000"/>
            <a:ext cx="6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1" i="0" dirty="0">
                <a:solidFill>
                  <a:srgbClr val="A5B2FF"/>
                </a:solidFill>
                <a:latin typeface="JetBrains Mono"/>
                <a:cs typeface="JetBrains Mono"/>
              </a:rPr>
              <a:t>ALTERNATE FUTURES  ·  03 · STATE MACHINE &amp; HUMAN-IN-THE-LOOP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00000" y="260000"/>
            <a:ext cx="3350000" cy="380000"/>
          </a:xfrm>
          <a:prstGeom prst="roundRect">
            <a:avLst>
              <a:gd name="adj" fmla="val 16000"/>
            </a:avLst>
          </a:prstGeom>
          <a:solidFill>
            <a:srgbClr val="FFC7AA"/>
          </a:solidFill>
          <a:ln>
            <a:noFill/>
          </a:ln>
        </p:spPr>
        <p:txBody>
          <a:bodyPr wrap="square" lIns="110000" tIns="70000" rIns="110000" bIns="7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0000AF"/>
                </a:solidFill>
                <a:latin typeface="JetBrains Mono"/>
                <a:cs typeface="JetBrains Mono"/>
              </a:rPr>
              <a:t>Durable PostgreSQL Checkpoints</a:t>
            </a:r>
          </a:p>
        </p:txBody>
      </p:sp>
      <p:sp>
        <p:nvSpPr>
          <p:cNvPr id="8" name="Rect 8"/>
          <p:cNvSpPr/>
          <p:nvPr/>
        </p:nvSpPr>
        <p:spPr>
          <a:xfrm>
            <a:off x="640000" y="740000"/>
            <a:ext cx="10912000" cy="12700"/>
          </a:xfrm>
          <a:prstGeom prst="rect">
            <a:avLst/>
          </a:prstGeom>
          <a:solidFill>
            <a:srgbClr val="F9F5EE">
              <a:alpha val="2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40000" y="920000"/>
            <a:ext cx="109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2700" b="1" i="0" dirty="0">
                <a:solidFill>
                  <a:srgbClr val="F9F5EE"/>
                </a:solidFill>
                <a:latin typeface="Instrument Sans"/>
                <a:cs typeface="Instrument Sans"/>
              </a:rPr>
              <a:t>Ten-Stage Verified Pipeline Across Human &amp; Container Restarts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400" b="1" i="0" dirty="0">
                <a:solidFill>
                  <a:srgbClr val="FFC7AA"/>
                </a:solidFill>
                <a:latin typeface="JetBrains Mono"/>
                <a:cs typeface="JetBrains Mono"/>
              </a:rPr>
              <a:t>Upload → Analyze → Detect → Investigate → Clarify → Revise → Plan → Approve → Execute → Verify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0000" y="2150000"/>
            <a:ext cx="5300000" cy="280000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 w="15875">
            <a:solidFill>
              <a:srgbClr val="A5B2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1" i="0" dirty="0">
                <a:solidFill>
                  <a:srgbClr val="A5B2FF"/>
                </a:solidFill>
                <a:latin typeface="JetBrains Mono"/>
                <a:cs typeface="JetBrains Mono"/>
              </a:rPr>
              <a:t>INVESTIGATION SUBGRAPH (10 NODES)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800" b="1" i="0" dirty="0">
                <a:solidFill>
                  <a:srgbClr val="F9F5EE"/>
                </a:solidFill>
                <a:latin typeface="Instrument Sans"/>
                <a:cs typeface="Instrument Sans"/>
              </a:rPr>
              <a:t>Evidence Gathering → Critic → Clarification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F9F5EE"/>
                </a:solidFill>
                <a:latin typeface="Instrument Sans"/>
                <a:cs typeface="Instrument Sans"/>
              </a:rPr>
              <a:t>• load_context → plan_checks → run_verification executes read-only SQL checks for return spikes and vendor defects.
• critic → decide_next enforces sample size and time-window rules.
• ask_human pauses at awaiting_human in langgraph.checkpoints; each owner answer creates an immutable interpretation_versions row (v1 → v2).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20000" y="2150000"/>
            <a:ext cx="5300000" cy="280000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 w="15875">
            <a:solidFill>
              <a:srgbClr val="FFC7AA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1" i="0" dirty="0">
                <a:solidFill>
                  <a:srgbClr val="FFC7AA"/>
                </a:solidFill>
                <a:latin typeface="JetBrains Mono"/>
                <a:cs typeface="JetBrains Mono"/>
              </a:rPr>
              <a:t>RECOVERY &amp; GOOGLE SHEETS EXECUTOR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800" b="1" i="0" dirty="0">
                <a:solidFill>
                  <a:srgbClr val="F9F5EE"/>
                </a:solidFill>
                <a:latin typeface="Instrument Sans"/>
                <a:cs typeface="Instrument Sans"/>
              </a:rPr>
              <a:t>Bounded Estimation → Approval → Read-Back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F9F5EE"/>
                </a:solidFill>
                <a:latin typeface="Instrument Sans"/>
                <a:cs typeface="Instrument Sans"/>
              </a:rPr>
              <a:t>• recovery/estimator.py calculates low/mid/high recovery ranges with explicit assumptions.
• Decision Panel binds owner approval to (plan_id, version, content_hash).
• actions/executor.py reconciles existing keys, appends missing rows, and verifies cell-by-cell (pending → succeeded → verified).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0000" y="5150000"/>
            <a:ext cx="10880000" cy="100000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 w="15875">
            <a:solidFill>
              <a:srgbClr val="FFC7AA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FFC7AA"/>
                </a:solidFill>
                <a:latin typeface="JetBrains Mono"/>
                <a:cs typeface="JetBrains Mono"/>
              </a:rPr>
              <a:t>LIVE GOOGLE SHEETS BRIDGE VERIFICATION (AMD-19 / AMD-20)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F9F5EE"/>
                </a:solidFill>
                <a:latin typeface="Instrument Sans"/>
                <a:cs typeface="Instrument Sans"/>
              </a:rPr>
              <a:t>Action 668e72cb-df08-5545-97d6-96e03454f2ed wrote 1 strategy row to ROOT Review Tasks and 3 customer rows to ROOT Service Queue, verified via independent cell-by-cell read-back in 33.46 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0000" y="6380000"/>
            <a:ext cx="8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0" i="0" dirty="0">
                <a:solidFill>
                  <a:srgbClr val="A5B2FF"/>
                </a:solidFill>
                <a:latin typeface="JetBrains Mono"/>
                <a:cs typeface="JetBrains Mono"/>
              </a:rPr>
              <a:t>Biztective (ROOT 2.0)  ·  Clouds by Alternate Futures  ·  https://root-web-app.alternatefutures.ai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00000" y="6380000"/>
            <a:ext cx="115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1" i="0" dirty="0">
                <a:solidFill>
                  <a:srgbClr val="A5B2FF"/>
                </a:solidFill>
                <a:latin typeface="JetBrains Mono"/>
                <a:cs typeface="JetBrains Mono"/>
              </a:rPr>
              <a:t>SLIDE 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 Star 2"/>
          <p:cNvSpPr/>
          <p:nvPr/>
        </p:nvSpPr>
        <p:spPr>
          <a:xfrm>
            <a:off x="10700000" y="950000"/>
            <a:ext cx="420000" cy="420000"/>
          </a:xfrm>
          <a:prstGeom prst="star4">
            <a:avLst>
              <a:gd name="adj" fmla="val 18000"/>
            </a:avLst>
          </a:prstGeom>
          <a:solidFill>
            <a:srgbClr val="000AFF">
              <a:alpha val="14000"/>
            </a:srgbClr>
          </a:solidFill>
          <a:ln>
            <a:noFill/>
          </a:ln>
        </p:spPr>
      </p:sp>
      <p:sp>
        <p:nvSpPr>
          <p:cNvPr id="3" name="AF Star 3"/>
          <p:cNvSpPr/>
          <p:nvPr/>
        </p:nvSpPr>
        <p:spPr>
          <a:xfrm>
            <a:off x="9700000" y="1800000"/>
            <a:ext cx="220000" cy="220000"/>
          </a:xfrm>
          <a:prstGeom prst="star4">
            <a:avLst>
              <a:gd name="adj" fmla="val 18000"/>
            </a:avLst>
          </a:prstGeom>
          <a:solidFill>
            <a:srgbClr val="BE4200">
              <a:alpha val="1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0000" y="280000"/>
            <a:ext cx="6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1" i="0" dirty="0">
                <a:solidFill>
                  <a:srgbClr val="000AFF"/>
                </a:solidFill>
                <a:latin typeface="JetBrains Mono"/>
                <a:cs typeface="JetBrains Mono"/>
              </a:rPr>
              <a:t>ALTERNATE FUTURES  ·  04 · PRODUCTION TOPOLOGY ON CLOUDS BY ALTERNATE FUTURES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00000" y="260000"/>
            <a:ext cx="3350000" cy="380000"/>
          </a:xfrm>
          <a:prstGeom prst="roundRect">
            <a:avLst>
              <a:gd name="adj" fmla="val 16000"/>
            </a:avLst>
          </a:prstGeom>
          <a:solidFill>
            <a:srgbClr val="000AFF"/>
          </a:solidFill>
          <a:ln>
            <a:noFill/>
          </a:ln>
        </p:spPr>
        <p:txBody>
          <a:bodyPr wrap="square" lIns="110000" tIns="70000" rIns="110000" bIns="7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FFFFFF"/>
                </a:solidFill>
                <a:latin typeface="JetBrains Mono"/>
                <a:cs typeface="JetBrains Mono"/>
              </a:rPr>
              <a:t>Project: root-2</a:t>
            </a:r>
          </a:p>
        </p:txBody>
      </p:sp>
      <p:sp>
        <p:nvSpPr>
          <p:cNvPr id="6" name="Rect 6"/>
          <p:cNvSpPr/>
          <p:nvPr/>
        </p:nvSpPr>
        <p:spPr>
          <a:xfrm>
            <a:off x="640000" y="740000"/>
            <a:ext cx="10912000" cy="12700"/>
          </a:xfrm>
          <a:prstGeom prst="rect">
            <a:avLst/>
          </a:prstGeom>
          <a:solidFill>
            <a:srgbClr val="000AFF">
              <a:alpha val="2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40000" y="900000"/>
            <a:ext cx="10900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2600" b="1" i="0" dirty="0">
                <a:solidFill>
                  <a:srgbClr val="0000AF"/>
                </a:solidFill>
                <a:latin typeface="Instrument Sans"/>
                <a:cs typeface="Instrument Sans"/>
              </a:rPr>
              <a:t>Containerized Multi-Service Deployment on Decentralized Compute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300" b="0" i="0" dirty="0">
                <a:solidFill>
                  <a:srgbClr val="1A1A1A"/>
                </a:solidFill>
                <a:latin typeface="Instrument Sans"/>
                <a:cs typeface="Instrument Sans"/>
              </a:rPr>
              <a:t>Deployed with @alternatefutures/acc v1.10.0 on Akash providers behind Clouds managed HTTPS ingress, connected to Supabase PostgreSQL over TLS (sslmode=require).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00" y="2050000"/>
            <a:ext cx="3500000" cy="40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A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000AFF"/>
                </a:solidFill>
                <a:latin typeface="JetBrains Mono"/>
                <a:cs typeface="JetBrains Mono"/>
              </a:rPr>
              <a:t>FRONTEND SERVICE · root-web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300" b="1" i="0" dirty="0">
                <a:solidFill>
                  <a:srgbClr val="0000AF"/>
                </a:solidFill>
                <a:latin typeface="JetBrains Mono"/>
                <a:cs typeface="JetBrains Mono"/>
              </a:rPr>
              <a:t>https://root-web-app.alternatefutures.ai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1A1A1A"/>
                </a:solidFill>
                <a:latin typeface="Instrument Sans"/>
                <a:cs typeface="Instrument Sans"/>
              </a:rPr>
              <a:t>• Service ID: cmvbx1b1016uebs1u7l6ge6p7
• Akash Lease DSEQ: 29100447
• Base: node:24.14.1-alpine3.21 (Standalone Next.js 16.4.2)
• Image: ttl.sh/root2-mahateer-web-1.0.2:24h
• Non-root UID 10001 · Port 3000 · 1 vCPU / 2 GiB RAM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20000" y="2050000"/>
            <a:ext cx="3500000" cy="40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A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000AFF"/>
                </a:solidFill>
                <a:latin typeface="JetBrains Mono"/>
                <a:cs typeface="JetBrains Mono"/>
              </a:rPr>
              <a:t>BACKEND SERVICE · root-api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300" b="1" i="0" dirty="0">
                <a:solidFill>
                  <a:srgbClr val="0000AF"/>
                </a:solidFill>
                <a:latin typeface="JetBrains Mono"/>
                <a:cs typeface="JetBrains Mono"/>
              </a:rPr>
              <a:t>https://root-api-app.alternatefutures.ai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1A1A1A"/>
                </a:solidFill>
                <a:latin typeface="Instrument Sans"/>
                <a:cs typeface="Instrument Sans"/>
              </a:rPr>
              <a:t>• Service ID: cmvbwfap014pibs1u7pxz2e5k
• Akash Lease DSEQ: 29100292
• Base: python:3.13-slim-bookworm (uv.lock frozen)
• Image: ttl.sh/root2-mahateer-api-1.0.2:24h
• Non-root UID 10001 · Port 8000 · --workers 1 · /api/v1/readyz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00000" y="2050000"/>
            <a:ext cx="3500000" cy="40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A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000AFF"/>
                </a:solidFill>
                <a:latin typeface="JetBrains Mono"/>
                <a:cs typeface="JetBrains Mono"/>
              </a:rPr>
              <a:t>MANAGED POSTGRESQL · SUPABASE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300" b="1" i="0" dirty="0">
                <a:solidFill>
                  <a:srgbClr val="0000AF"/>
                </a:solidFill>
                <a:latin typeface="JetBrains Mono"/>
                <a:cs typeface="JetBrains Mono"/>
              </a:rPr>
              <a:t>TLS sslmode=require · Alembic 0007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1A1A1A"/>
                </a:solidFill>
                <a:latin typeface="Instrument Sans"/>
                <a:cs typeface="Instrument Sans"/>
              </a:rPr>
              <a:t>• Runtime Role: root_app (NOSUPERUSER, NOBYPASSRLS)
• Migration Role: postgres (DATABASE_URL_MIGRATIONS)
• 22 Tenant Tables with ENABLE ROW LEVEL SECURITY
• Durable LangGraph tables in langgraph.* schema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0000" y="6380000"/>
            <a:ext cx="8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0" i="0" dirty="0">
                <a:solidFill>
                  <a:srgbClr val="0000AF"/>
                </a:solidFill>
                <a:latin typeface="JetBrains Mono"/>
                <a:cs typeface="JetBrains Mono"/>
              </a:rPr>
              <a:t>Biztective (ROOT 2.0)  ·  Clouds by Alternate Futures  ·  https://root-web-app.alternatefutures.ai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00000" y="6380000"/>
            <a:ext cx="115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1" i="0" dirty="0">
                <a:solidFill>
                  <a:srgbClr val="0000AF"/>
                </a:solidFill>
                <a:latin typeface="JetBrains Mono"/>
                <a:cs typeface="JetBrains Mono"/>
              </a:rPr>
              <a:t>SLIDE 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 Star 2"/>
          <p:cNvSpPr/>
          <p:nvPr/>
        </p:nvSpPr>
        <p:spPr>
          <a:xfrm>
            <a:off x="10600000" y="1050000"/>
            <a:ext cx="400000" cy="400000"/>
          </a:xfrm>
          <a:prstGeom prst="star4">
            <a:avLst>
              <a:gd name="adj" fmla="val 18000"/>
            </a:avLst>
          </a:prstGeom>
          <a:solidFill>
            <a:srgbClr val="000AFF">
              <a:alpha val="13000"/>
            </a:srgbClr>
          </a:solidFill>
          <a:ln>
            <a:noFill/>
          </a:ln>
        </p:spPr>
      </p:sp>
      <p:sp>
        <p:nvSpPr>
          <p:cNvPr id="3" name="AF Star 3"/>
          <p:cNvSpPr/>
          <p:nvPr/>
        </p:nvSpPr>
        <p:spPr>
          <a:xfrm>
            <a:off x="9500000" y="4700000"/>
            <a:ext cx="240000" cy="240000"/>
          </a:xfrm>
          <a:prstGeom prst="star4">
            <a:avLst>
              <a:gd name="adj" fmla="val 18000"/>
            </a:avLst>
          </a:prstGeom>
          <a:solidFill>
            <a:srgbClr val="FFC7AA">
              <a:alpha val="26000"/>
            </a:srgbClr>
          </a:solidFill>
          <a:ln>
            <a:noFill/>
          </a:ln>
        </p:spPr>
      </p:sp>
      <p:sp>
        <p:nvSpPr>
          <p:cNvPr id="4" name="AF Ring 4"/>
          <p:cNvSpPr/>
          <p:nvPr/>
        </p:nvSpPr>
        <p:spPr>
          <a:xfrm>
            <a:off x="10500000" y="4900000"/>
            <a:ext cx="2000000" cy="2000000"/>
          </a:xfrm>
          <a:prstGeom prst="ellipse">
            <a:avLst/>
          </a:prstGeom>
          <a:noFill/>
          <a:ln w="38100">
            <a:solidFill>
              <a:srgbClr val="000AFF">
                <a:alpha val="12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40000" y="280000"/>
            <a:ext cx="6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1" i="0" dirty="0">
                <a:solidFill>
                  <a:srgbClr val="000AFF"/>
                </a:solidFill>
                <a:latin typeface="JetBrains Mono"/>
                <a:cs typeface="JetBrains Mono"/>
              </a:rPr>
              <a:t>ALTERNATE FUTURES  ·  05 · CONTAINER PORTABILITY &amp; FIRST-PARTY SECURITY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00000" y="260000"/>
            <a:ext cx="3350000" cy="380000"/>
          </a:xfrm>
          <a:prstGeom prst="roundRect">
            <a:avLst>
              <a:gd name="adj" fmla="val 16000"/>
            </a:avLst>
          </a:prstGeom>
          <a:solidFill>
            <a:srgbClr val="000AFF"/>
          </a:solidFill>
          <a:ln>
            <a:noFill/>
          </a:ln>
        </p:spPr>
        <p:txBody>
          <a:bodyPr wrap="square" lIns="110000" tIns="70000" rIns="110000" bIns="7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FFFFFF"/>
                </a:solidFill>
                <a:latin typeface="JetBrains Mono"/>
                <a:cs typeface="JetBrains Mono"/>
              </a:rPr>
              <a:t>AMD-22 · ADR-010</a:t>
            </a:r>
          </a:p>
        </p:txBody>
      </p:sp>
      <p:sp>
        <p:nvSpPr>
          <p:cNvPr id="7" name="Rect 7"/>
          <p:cNvSpPr/>
          <p:nvPr/>
        </p:nvSpPr>
        <p:spPr>
          <a:xfrm>
            <a:off x="640000" y="740000"/>
            <a:ext cx="10912000" cy="12700"/>
          </a:xfrm>
          <a:prstGeom prst="rect">
            <a:avLst/>
          </a:prstGeom>
          <a:solidFill>
            <a:srgbClr val="000AFF">
              <a:alpha val="22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40000" y="900000"/>
            <a:ext cx="10900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2600" b="1" i="0" dirty="0">
                <a:solidFill>
                  <a:srgbClr val="0000AF"/>
                </a:solidFill>
                <a:latin typeface="Instrument Sans"/>
                <a:cs typeface="Instrument Sans"/>
              </a:rPr>
              <a:t>Solving Build-Time Next.js Rewrites for Portable Cloud Containers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300" b="0" i="0" dirty="0">
                <a:solidFill>
                  <a:srgbClr val="1A1A1A"/>
                </a:solidFill>
                <a:latin typeface="Instrument Sans"/>
                <a:cs typeface="Instrument Sans"/>
              </a:rPr>
              <a:t>Next.js evaluates next.config.ts rewrites() at build time. Because Clouds assigns service URLs at deploy time, apps/web/src/proxy.ts rewrites /api/v1/* dynamically at request time.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0000" y="2050000"/>
            <a:ext cx="5300000" cy="25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A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000AFF"/>
                </a:solidFill>
                <a:latin typeface="JetBrains Mono"/>
                <a:cs typeface="JetBrains Mono"/>
              </a:rPr>
              <a:t>REQUEST-TIME PROXY (apps/web/src/proxy.ts)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800" b="1" i="0" dirty="0">
                <a:solidFill>
                  <a:srgbClr val="0000AF"/>
                </a:solidFill>
                <a:latin typeface="Instrument Sans"/>
                <a:cs typeface="Instrument Sans"/>
              </a:rPr>
              <a:t>Dynamic BACKEND_URL Resolution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1A1A1A"/>
                </a:solidFill>
                <a:latin typeface="Instrument Sans"/>
                <a:cs typeface="Instrument Sans"/>
              </a:rPr>
              <a:t>• Intercepts /api/v1/:path* inside the Next.js server runtime.
• Reads process.env.BACKEND_URL injected via acc services env set without rebuilding the container.
• Generates per-request cryptographic CSP nonces on page routes.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20000" y="2050000"/>
            <a:ext cx="5300000" cy="25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A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000AFF"/>
                </a:solidFill>
                <a:latin typeface="JetBrains Mono"/>
                <a:cs typeface="JetBrains Mono"/>
              </a:rPr>
              <a:t>FIRST-PARTY HTTPS COOKIE CONTRACT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800" b="1" i="0" dirty="0">
                <a:solidFill>
                  <a:srgbClr val="0000AF"/>
                </a:solidFill>
                <a:latin typeface="Instrument Sans"/>
                <a:cs typeface="Instrument Sans"/>
              </a:rPr>
              <a:t>__Host- Cookies &amp; Signed Double-Submit CSRF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1A1A1A"/>
                </a:solidFill>
                <a:latin typeface="Instrument Sans"/>
                <a:cs typeface="Instrument Sans"/>
              </a:rPr>
              <a:t>• Browser traffic stays 100% same-origin on https://root-web-app.alternatefutures.ai.
• __Host-root_session (Secure; HttpOnly; SameSite=Lax; Path=/) &amp; __Host-root_csrf (SameSite=Strict).
• Backend verifies Origin == FRONTEND_ORIGIN + HMAC-SHA256 CSRF token.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0000" y="4800000"/>
            <a:ext cx="10880000" cy="135000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 w="15875">
            <a:solidFill>
              <a:srgbClr val="A5B2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FFC7AA"/>
                </a:solidFill>
                <a:latin typeface="JetBrains Mono"/>
                <a:cs typeface="JetBrains Mono"/>
              </a:rPr>
              <a:t>// apps/web/src/proxy.ts — Request-time /api/v1/* rewrite (AMD-22)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0" i="0" dirty="0">
                <a:solidFill>
                  <a:srgbClr val="F9F5EE"/>
                </a:solidFill>
                <a:latin typeface="JetBrains Mono"/>
                <a:cs typeface="JetBrains Mono"/>
              </a:rPr>
              <a:t>if (pathname.startsWith("/api/v1/")) {
  const target = new URL(`${pathname}${request.nextUrl.search}`, backendOrigin());
  return NextResponse.rewrite(target); // -&gt; https://root-api-app.alternatefutures.ai/api/v1/*
}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0000" y="6380000"/>
            <a:ext cx="8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0" i="0" dirty="0">
                <a:solidFill>
                  <a:srgbClr val="0000AF"/>
                </a:solidFill>
                <a:latin typeface="JetBrains Mono"/>
                <a:cs typeface="JetBrains Mono"/>
              </a:rPr>
              <a:t>Biztective (ROOT 2.0)  ·  Clouds by Alternate Futures  ·  https://root-web-app.alternatefutures.ai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00000" y="6380000"/>
            <a:ext cx="115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1" i="0" dirty="0">
                <a:solidFill>
                  <a:srgbClr val="0000AF"/>
                </a:solidFill>
                <a:latin typeface="JetBrains Mono"/>
                <a:cs typeface="JetBrains Mono"/>
              </a:rPr>
              <a:t>SLIDE 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 Star 2"/>
          <p:cNvSpPr/>
          <p:nvPr/>
        </p:nvSpPr>
        <p:spPr>
          <a:xfrm>
            <a:off x="10400000" y="950000"/>
            <a:ext cx="420000" cy="420000"/>
          </a:xfrm>
          <a:prstGeom prst="star4">
            <a:avLst>
              <a:gd name="adj" fmla="val 18000"/>
            </a:avLst>
          </a:prstGeom>
          <a:solidFill>
            <a:srgbClr val="F9F5EE">
              <a:alpha val="12000"/>
            </a:srgbClr>
          </a:solidFill>
          <a:ln>
            <a:noFill/>
          </a:ln>
        </p:spPr>
      </p:sp>
      <p:sp>
        <p:nvSpPr>
          <p:cNvPr id="3" name="AF Star 3"/>
          <p:cNvSpPr/>
          <p:nvPr/>
        </p:nvSpPr>
        <p:spPr>
          <a:xfrm>
            <a:off x="11100000" y="2100000"/>
            <a:ext cx="220000" cy="220000"/>
          </a:xfrm>
          <a:prstGeom prst="star4">
            <a:avLst>
              <a:gd name="adj" fmla="val 18000"/>
            </a:avLst>
          </a:prstGeom>
          <a:solidFill>
            <a:srgbClr val="FFC7AA">
              <a:alpha val="18000"/>
            </a:srgbClr>
          </a:solidFill>
          <a:ln>
            <a:noFill/>
          </a:ln>
        </p:spPr>
      </p:sp>
      <p:sp>
        <p:nvSpPr>
          <p:cNvPr id="4" name="AF Star 4"/>
          <p:cNvSpPr/>
          <p:nvPr/>
        </p:nvSpPr>
        <p:spPr>
          <a:xfrm>
            <a:off x="900000" y="5300000"/>
            <a:ext cx="260000" cy="260000"/>
          </a:xfrm>
          <a:prstGeom prst="star4">
            <a:avLst>
              <a:gd name="adj" fmla="val 18000"/>
            </a:avLst>
          </a:prstGeom>
          <a:solidFill>
            <a:srgbClr val="A5B2FF">
              <a:alpha val="16000"/>
            </a:srgbClr>
          </a:solidFill>
          <a:ln>
            <a:noFill/>
          </a:ln>
        </p:spPr>
      </p:sp>
      <p:sp>
        <p:nvSpPr>
          <p:cNvPr id="5" name="AF Ring 5"/>
          <p:cNvSpPr/>
          <p:nvPr/>
        </p:nvSpPr>
        <p:spPr>
          <a:xfrm>
            <a:off x="-400000" y="-400000"/>
            <a:ext cx="1800000" cy="1800000"/>
          </a:xfrm>
          <a:prstGeom prst="ellipse">
            <a:avLst/>
          </a:prstGeom>
          <a:noFill/>
          <a:ln w="38100">
            <a:solidFill>
              <a:srgbClr val="FFC7AA">
                <a:alpha val="14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640000" y="280000"/>
            <a:ext cx="6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1" i="0" dirty="0">
                <a:solidFill>
                  <a:srgbClr val="A5B2FF"/>
                </a:solidFill>
                <a:latin typeface="JetBrains Mono"/>
                <a:cs typeface="JetBrains Mono"/>
              </a:rPr>
              <a:t>ALTERNATE FUTURES  ·  06 · PHASE 10 TECHNICAL HARDENING AUDIT (AMD-21)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00000" y="260000"/>
            <a:ext cx="3350000" cy="380000"/>
          </a:xfrm>
          <a:prstGeom prst="roundRect">
            <a:avLst>
              <a:gd name="adj" fmla="val 16000"/>
            </a:avLst>
          </a:prstGeom>
          <a:solidFill>
            <a:srgbClr val="FFC7AA"/>
          </a:solidFill>
          <a:ln>
            <a:noFill/>
          </a:ln>
        </p:spPr>
        <p:txBody>
          <a:bodyPr wrap="square" lIns="110000" tIns="70000" rIns="110000" bIns="7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0000AF"/>
                </a:solidFill>
                <a:latin typeface="JetBrains Mono"/>
                <a:cs typeface="JetBrains Mono"/>
              </a:rPr>
              <a:t>16 Findings Remediated</a:t>
            </a:r>
          </a:p>
        </p:txBody>
      </p:sp>
      <p:sp>
        <p:nvSpPr>
          <p:cNvPr id="8" name="Rect 8"/>
          <p:cNvSpPr/>
          <p:nvPr/>
        </p:nvSpPr>
        <p:spPr>
          <a:xfrm>
            <a:off x="640000" y="740000"/>
            <a:ext cx="10912000" cy="12700"/>
          </a:xfrm>
          <a:prstGeom prst="rect">
            <a:avLst/>
          </a:prstGeom>
          <a:solidFill>
            <a:srgbClr val="F9F5EE">
              <a:alpha val="2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40000" y="900000"/>
            <a:ext cx="109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2600" b="1" i="0" dirty="0">
                <a:solidFill>
                  <a:srgbClr val="F9F5EE"/>
                </a:solidFill>
                <a:latin typeface="Instrument Sans"/>
                <a:cs typeface="Instrument Sans"/>
              </a:rPr>
              <a:t>Hardened Against Concurrency Races, Stale Workers &amp; Ambiguous Writes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0000" y="1750000"/>
            <a:ext cx="3500000" cy="275000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 w="15875">
            <a:solidFill>
              <a:srgbClr val="BE4200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FFC7AA"/>
                </a:solidFill>
                <a:latin typeface="JetBrains Mono"/>
                <a:cs typeface="JetBrains Mono"/>
              </a:rPr>
              <a:t>F10-01 · F10-02 · AUTH &amp; QUOTAS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700" b="1" i="0" dirty="0">
                <a:solidFill>
                  <a:srgbClr val="F9F5EE"/>
                </a:solidFill>
                <a:latin typeface="Instrument Sans"/>
                <a:cs typeface="Instrument Sans"/>
              </a:rPr>
              <a:t>Serialized Login Throttling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F9F5EE"/>
                </a:solidFill>
                <a:latin typeface="Instrument Sans"/>
                <a:cs typeface="Instrument Sans"/>
              </a:rPr>
              <a:t>• Ordered PostgreSQL advisory locks serialize concurrent login checks (12 parallel bad logins → 5 401s + 7 429s).
• Argon2 moved off event loop.
• 300 req/min session token bucket (10,000 cap).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20000" y="1750000"/>
            <a:ext cx="3500000" cy="275000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 w="15875">
            <a:solidFill>
              <a:srgbClr val="BE4200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FFC7AA"/>
                </a:solidFill>
                <a:latin typeface="JetBrains Mono"/>
                <a:cs typeface="JetBrains Mono"/>
              </a:rPr>
              <a:t>F10-05 · F10-06 · JOB QUEUE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700" b="1" i="0" dirty="0">
                <a:solidFill>
                  <a:srgbClr val="F9F5EE"/>
                </a:solidFill>
                <a:latin typeface="Instrument Sans"/>
                <a:cs typeface="Instrument Sans"/>
              </a:rPr>
              <a:t>Attempt-Fenced Leases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F9F5EE"/>
                </a:solidFill>
                <a:latin typeface="Instrument Sans"/>
                <a:cs typeface="Instrument Sans"/>
              </a:rPr>
              <a:t>• Heartbeat, completion &amp; failure updates fenced by (job_id, status='running', attempts=leased_attempt).
• Replaced workers cannot corrupt active leases or fire duplicate failure hooks.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00000" y="1750000"/>
            <a:ext cx="3500000" cy="275000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 w="15875">
            <a:solidFill>
              <a:srgbClr val="BE4200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FFC7AA"/>
                </a:solidFill>
                <a:latin typeface="JetBrains Mono"/>
                <a:cs typeface="JetBrains Mono"/>
              </a:rPr>
              <a:t>F10-09 · F10-10 · F10-11 · ACTIONS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700" b="1" i="0" dirty="0">
                <a:solidFill>
                  <a:srgbClr val="F9F5EE"/>
                </a:solidFill>
                <a:latin typeface="Instrument Sans"/>
                <a:cs typeface="Instrument Sans"/>
              </a:rPr>
              <a:t>Pre-Mutation Recheck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F9F5EE"/>
                </a:solidFill>
                <a:latin typeface="Instrument Sans"/>
                <a:cs typeface="Instrument Sans"/>
              </a:rPr>
              <a:t>• Re-verifies plan approval &amp; integration binding before every external HTTP write (including tab creation).
• Post-redirect Apps Script errors reconcile via read-back before retry.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0000" y="4700000"/>
            <a:ext cx="5300000" cy="145000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 w="15875">
            <a:solidFill>
              <a:srgbClr val="A5B2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A5B2FF"/>
                </a:solidFill>
                <a:latin typeface="JetBrains Mono"/>
                <a:cs typeface="JetBrains Mono"/>
              </a:rPr>
              <a:t>F10-03 · RECURSIVE LOG REDACTION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F9F5EE"/>
                </a:solidFill>
                <a:latin typeface="Instrument Sans"/>
                <a:cs typeface="Instrument Sans"/>
              </a:rPr>
              <a:t>Structured JSON logger recursively redacts nested secret keys, sets SQLAlchemy hide_parameters=True, and strips raw SDK exception messages.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20000" y="4700000"/>
            <a:ext cx="5300000" cy="145000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 w="15875">
            <a:solidFill>
              <a:srgbClr val="A5B2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A5B2FF"/>
                </a:solidFill>
                <a:latin typeface="JetBrains Mono"/>
                <a:cs typeface="JetBrains Mono"/>
              </a:rPr>
              <a:t>F10-16 · 500K-ROW WINDOW DEDUPLICATION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F9F5EE"/>
                </a:solidFill>
                <a:latin typeface="Instrument Sans"/>
                <a:cs typeface="Instrument Sans"/>
              </a:rPr>
              <a:t>Replaced NOT IN retained-ID materialization with single-pass row_number() OVER (PARTITION BY key ORDER BY source_row), completing 500k ingest in 50.37 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0000" y="6380000"/>
            <a:ext cx="8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0" i="0" dirty="0">
                <a:solidFill>
                  <a:srgbClr val="A5B2FF"/>
                </a:solidFill>
                <a:latin typeface="JetBrains Mono"/>
                <a:cs typeface="JetBrains Mono"/>
              </a:rPr>
              <a:t>Biztective (ROOT 2.0)  ·  Clouds by Alternate Futures  ·  https://root-web-app.alternatefutures.ai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00000" y="6380000"/>
            <a:ext cx="115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1" i="0" dirty="0">
                <a:solidFill>
                  <a:srgbClr val="A5B2FF"/>
                </a:solidFill>
                <a:latin typeface="JetBrains Mono"/>
                <a:cs typeface="JetBrains Mono"/>
              </a:rPr>
              <a:t>SLIDE 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 Star 2"/>
          <p:cNvSpPr/>
          <p:nvPr/>
        </p:nvSpPr>
        <p:spPr>
          <a:xfrm>
            <a:off x="10600000" y="950000"/>
            <a:ext cx="420000" cy="420000"/>
          </a:xfrm>
          <a:prstGeom prst="star4">
            <a:avLst>
              <a:gd name="adj" fmla="val 18000"/>
            </a:avLst>
          </a:prstGeom>
          <a:solidFill>
            <a:srgbClr val="000AFF">
              <a:alpha val="13000"/>
            </a:srgbClr>
          </a:solidFill>
          <a:ln>
            <a:noFill/>
          </a:ln>
        </p:spPr>
      </p:sp>
      <p:sp>
        <p:nvSpPr>
          <p:cNvPr id="3" name="AF Star 3"/>
          <p:cNvSpPr/>
          <p:nvPr/>
        </p:nvSpPr>
        <p:spPr>
          <a:xfrm>
            <a:off x="9600000" y="1750000"/>
            <a:ext cx="220000" cy="220000"/>
          </a:xfrm>
          <a:prstGeom prst="star4">
            <a:avLst>
              <a:gd name="adj" fmla="val 18000"/>
            </a:avLst>
          </a:prstGeom>
          <a:solidFill>
            <a:srgbClr val="FFC7AA">
              <a:alpha val="2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40000" y="280000"/>
            <a:ext cx="6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1" i="0" dirty="0">
                <a:solidFill>
                  <a:srgbClr val="000AFF"/>
                </a:solidFill>
                <a:latin typeface="JetBrains Mono"/>
                <a:cs typeface="JetBrains Mono"/>
              </a:rPr>
              <a:t>ALTERNATE FUTURES  ·  07 · SOURCED BENCHMARKS &amp; QUALITY GATES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00000" y="260000"/>
            <a:ext cx="3350000" cy="380000"/>
          </a:xfrm>
          <a:prstGeom prst="roundRect">
            <a:avLst>
              <a:gd name="adj" fmla="val 16000"/>
            </a:avLst>
          </a:prstGeom>
          <a:solidFill>
            <a:srgbClr val="000AFF"/>
          </a:solidFill>
          <a:ln>
            <a:noFill/>
          </a:ln>
        </p:spPr>
        <p:txBody>
          <a:bodyPr wrap="square" lIns="110000" tIns="70000" rIns="110000" bIns="7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FFFFFF"/>
                </a:solidFill>
                <a:latin typeface="JetBrains Mono"/>
                <a:cs typeface="JetBrains Mono"/>
              </a:rPr>
              <a:t>Zero Skipped Gates (R-5 / R-6)</a:t>
            </a:r>
          </a:p>
        </p:txBody>
      </p:sp>
      <p:sp>
        <p:nvSpPr>
          <p:cNvPr id="6" name="Rect 6"/>
          <p:cNvSpPr/>
          <p:nvPr/>
        </p:nvSpPr>
        <p:spPr>
          <a:xfrm>
            <a:off x="640000" y="740000"/>
            <a:ext cx="10912000" cy="12700"/>
          </a:xfrm>
          <a:prstGeom prst="rect">
            <a:avLst/>
          </a:prstGeom>
          <a:solidFill>
            <a:srgbClr val="000AFF">
              <a:alpha val="2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40000" y="900000"/>
            <a:ext cx="109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2600" b="1" i="0" dirty="0">
                <a:solidFill>
                  <a:srgbClr val="0000AF"/>
                </a:solidFill>
                <a:latin typeface="Instrument Sans"/>
                <a:cs typeface="Instrument Sans"/>
              </a:rPr>
              <a:t>Measured Performance &amp; Test Verification (2026-10-17)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00" y="1650000"/>
            <a:ext cx="2600000" cy="2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A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2800" b="1" i="0" dirty="0">
                <a:solidFill>
                  <a:srgbClr val="000AFF"/>
                </a:solidFill>
                <a:latin typeface="Instrument Sans"/>
                <a:cs typeface="Instrument Sans"/>
              </a:rPr>
              <a:t>50.37 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1" i="0" dirty="0">
                <a:solidFill>
                  <a:srgbClr val="0000AF"/>
                </a:solidFill>
                <a:latin typeface="JetBrains Mono"/>
                <a:cs typeface="JetBrains Mono"/>
              </a:rPr>
              <a:t>500K ROWS + 25K RETURNS INGEST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0" i="0" dirty="0">
                <a:solidFill>
                  <a:srgbClr val="1A1A1A"/>
                </a:solidFill>
                <a:latin typeface="Instrument Sans"/>
                <a:cs typeface="Instrument Sans"/>
              </a:rPr>
              <a:t>18.7 MB CSV upload + ingest (NFR-02 target &lt;= 120 s). 100k rows in 15.02 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00000" y="1650000"/>
            <a:ext cx="2600000" cy="2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A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2800" b="1" i="0" dirty="0">
                <a:solidFill>
                  <a:srgbClr val="000AFF"/>
                </a:solidFill>
                <a:latin typeface="Instrument Sans"/>
                <a:cs typeface="Instrument Sans"/>
              </a:rPr>
              <a:t>265 ms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1" i="0" dirty="0">
                <a:solidFill>
                  <a:srgbClr val="0000AF"/>
                </a:solidFill>
                <a:latin typeface="JetBrains Mono"/>
                <a:cs typeface="JetBrains Mono"/>
              </a:rPr>
              <a:t>P95 CONCURRENT API READS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0" i="0" dirty="0">
                <a:solidFill>
                  <a:srgbClr val="1A1A1A"/>
                </a:solidFill>
                <a:latin typeface="Instrument Sans"/>
                <a:cs typeface="Instrument Sans"/>
              </a:rPr>
              <a:t>60 authenticated requests across 20 concurrent users (101.7 req/s; target &lt;= 300 ms).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60000" y="1650000"/>
            <a:ext cx="2600000" cy="2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A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2800" b="1" i="0" dirty="0">
                <a:solidFill>
                  <a:srgbClr val="000AFF"/>
                </a:solidFill>
                <a:latin typeface="Instrument Sans"/>
                <a:cs typeface="Instrument Sans"/>
              </a:rPr>
              <a:t>96.0%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1" i="0" dirty="0">
                <a:solidFill>
                  <a:srgbClr val="0000AF"/>
                </a:solidFill>
                <a:latin typeface="JetBrains Mono"/>
                <a:cs typeface="JetBrains Mono"/>
              </a:rPr>
              <a:t>BACKEND COVERAGE (786 TESTS)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0" i="0" dirty="0">
                <a:solidFill>
                  <a:srgbClr val="1A1A1A"/>
                </a:solidFill>
                <a:latin typeface="Instrument Sans"/>
                <a:cs typeface="Instrument Sans"/>
              </a:rPr>
              <a:t>All 7 critical modules &gt;= 95% (auth 99%, critic 98%, verification 97%, analytics 96%).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20000" y="1650000"/>
            <a:ext cx="2600000" cy="2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A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2800" b="1" i="0" dirty="0">
                <a:solidFill>
                  <a:srgbClr val="000AFF"/>
                </a:solidFill>
                <a:latin typeface="Instrument Sans"/>
                <a:cs typeface="Instrument Sans"/>
              </a:rPr>
              <a:t>17 / 17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1" i="0" dirty="0">
                <a:solidFill>
                  <a:srgbClr val="0000AF"/>
                </a:solidFill>
                <a:latin typeface="JetBrains Mono"/>
                <a:cs typeface="JetBrains Mono"/>
              </a:rPr>
              <a:t>PLAYWRIGHT E2E + AXE WCAG 2.2 AA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0" i="0" dirty="0">
                <a:solidFill>
                  <a:srgbClr val="1A1A1A"/>
                </a:solidFill>
                <a:latin typeface="Instrument Sans"/>
                <a:cs typeface="Instrument Sans"/>
              </a:rPr>
              <a:t>Full workflow, keyboard-only, mobile viewport, cross-tenant 404, plus 57 Vitest tests.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0000" y="3950000"/>
            <a:ext cx="10880000" cy="2200000"/>
          </a:xfrm>
          <a:prstGeom prst="roundRect">
            <a:avLst>
              <a:gd name="adj" fmla="val 8000"/>
            </a:avLst>
          </a:prstGeom>
          <a:solidFill>
            <a:srgbClr val="C8E0E4"/>
          </a:solidFill>
          <a:ln w="15875">
            <a:solidFill>
              <a:srgbClr val="0000A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1" i="0" dirty="0">
                <a:solidFill>
                  <a:srgbClr val="0000AF"/>
                </a:solidFill>
                <a:latin typeface="JetBrains Mono"/>
                <a:cs typeface="JetBrains Mono"/>
              </a:rPr>
              <a:t>ADDITIONAL VERIFIED BENCHMARKS (docs/ROOT_ENGINEERING_LOG.md)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1A1A1A"/>
                </a:solidFill>
                <a:latin typeface="Instrument Sans"/>
                <a:cs typeface="Instrument Sans"/>
              </a:rPr>
              <a:t>• 500k Analysis &amp; Anomaly Detection: 16.12 s (46 SQL statements, 35 anomaly flags; target &lt;= 60 s)
• Investigation Start to First Question: 1.202–1.570 s (deterministic) / 1.070–2.076 s (LLM; target &lt;= 60 s)
• Frontend Route Budgets (6 routes): TTFB 33–88 ms · Heading visible 275–591 ms · Transferred JS 152–273 KB (target &lt;= 400 KB)
• Security &amp; Static Audits: 0 mypy --strict errors · 0 ruff findings · 0 prod pip-audit / npm audit CVEs · 0 gitleaks findings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0000" y="6380000"/>
            <a:ext cx="8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0" i="0" dirty="0">
                <a:solidFill>
                  <a:srgbClr val="0000AF"/>
                </a:solidFill>
                <a:latin typeface="JetBrains Mono"/>
                <a:cs typeface="JetBrains Mono"/>
              </a:rPr>
              <a:t>Biztective (ROOT 2.0)  ·  Clouds by Alternate Futures  ·  https://root-web-app.alternatefutures.ai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00000" y="6380000"/>
            <a:ext cx="115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1" i="0" dirty="0">
                <a:solidFill>
                  <a:srgbClr val="0000AF"/>
                </a:solidFill>
                <a:latin typeface="JetBrains Mono"/>
                <a:cs typeface="JetBrains Mono"/>
              </a:rPr>
              <a:t>SLIDE 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 Star 2"/>
          <p:cNvSpPr/>
          <p:nvPr/>
        </p:nvSpPr>
        <p:spPr>
          <a:xfrm>
            <a:off x="10600000" y="1000000"/>
            <a:ext cx="420000" cy="420000"/>
          </a:xfrm>
          <a:prstGeom prst="star4">
            <a:avLst>
              <a:gd name="adj" fmla="val 18000"/>
            </a:avLst>
          </a:prstGeom>
          <a:solidFill>
            <a:srgbClr val="000AFF">
              <a:alpha val="12000"/>
            </a:srgbClr>
          </a:solidFill>
          <a:ln>
            <a:noFill/>
          </a:ln>
        </p:spPr>
      </p:sp>
      <p:sp>
        <p:nvSpPr>
          <p:cNvPr id="3" name="AF Star 3"/>
          <p:cNvSpPr/>
          <p:nvPr/>
        </p:nvSpPr>
        <p:spPr>
          <a:xfrm>
            <a:off x="9800000" y="4900000"/>
            <a:ext cx="220000" cy="220000"/>
          </a:xfrm>
          <a:prstGeom prst="star4">
            <a:avLst>
              <a:gd name="adj" fmla="val 18000"/>
            </a:avLst>
          </a:prstGeom>
          <a:solidFill>
            <a:srgbClr val="BE4200">
              <a:alpha val="14000"/>
            </a:srgbClr>
          </a:solidFill>
          <a:ln>
            <a:noFill/>
          </a:ln>
        </p:spPr>
      </p:sp>
      <p:sp>
        <p:nvSpPr>
          <p:cNvPr id="4" name="AF Ring 4"/>
          <p:cNvSpPr/>
          <p:nvPr/>
        </p:nvSpPr>
        <p:spPr>
          <a:xfrm>
            <a:off x="-400000" y="4900000"/>
            <a:ext cx="1800000" cy="1800000"/>
          </a:xfrm>
          <a:prstGeom prst="ellipse">
            <a:avLst/>
          </a:prstGeom>
          <a:noFill/>
          <a:ln w="38100">
            <a:solidFill>
              <a:srgbClr val="000AFF">
                <a:alpha val="12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40000" y="280000"/>
            <a:ext cx="6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1" i="0" dirty="0">
                <a:solidFill>
                  <a:srgbClr val="000AFF"/>
                </a:solidFill>
                <a:latin typeface="JetBrains Mono"/>
                <a:cs typeface="JetBrains Mono"/>
              </a:rPr>
              <a:t>ALTERNATE FUTURES  ·  08 · DAY-2 OPERATIONS WITH ACC &amp; KNOWN LIMITATIONS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00000" y="260000"/>
            <a:ext cx="3350000" cy="380000"/>
          </a:xfrm>
          <a:prstGeom prst="roundRect">
            <a:avLst>
              <a:gd name="adj" fmla="val 16000"/>
            </a:avLst>
          </a:prstGeom>
          <a:solidFill>
            <a:srgbClr val="000AFF"/>
          </a:solidFill>
          <a:ln>
            <a:noFill/>
          </a:ln>
        </p:spPr>
        <p:txBody>
          <a:bodyPr wrap="square" lIns="110000" tIns="70000" rIns="110000" bIns="7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FFFFFF"/>
                </a:solidFill>
                <a:latin typeface="JetBrains Mono"/>
                <a:cs typeface="JetBrains Mono"/>
              </a:rPr>
              <a:t>docs/DEPLOYMENT_GUIDE.md</a:t>
            </a:r>
          </a:p>
        </p:txBody>
      </p:sp>
      <p:sp>
        <p:nvSpPr>
          <p:cNvPr id="7" name="Rect 7"/>
          <p:cNvSpPr/>
          <p:nvPr/>
        </p:nvSpPr>
        <p:spPr>
          <a:xfrm>
            <a:off x="640000" y="740000"/>
            <a:ext cx="10912000" cy="12700"/>
          </a:xfrm>
          <a:prstGeom prst="rect">
            <a:avLst/>
          </a:prstGeom>
          <a:solidFill>
            <a:srgbClr val="000AFF">
              <a:alpha val="22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40000" y="900000"/>
            <a:ext cx="5300000" cy="520000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 w="15875">
            <a:solidFill>
              <a:srgbClr val="A5B2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1" i="0" dirty="0">
                <a:solidFill>
                  <a:srgbClr val="FFC7AA"/>
                </a:solidFill>
                <a:latin typeface="JetBrains Mono"/>
                <a:cs typeface="JetBrains Mono"/>
              </a:rPr>
              <a:t>REDEPLOY &amp; ROLLBACK WITH THE ACC CLI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800" b="1" i="0" dirty="0">
                <a:solidFill>
                  <a:srgbClr val="F9F5EE"/>
                </a:solidFill>
                <a:latin typeface="Instrument Sans"/>
                <a:cs typeface="Instrument Sans"/>
              </a:rPr>
              <a:t>Immutable Image Tags on Clouds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0" i="0" dirty="0">
                <a:solidFill>
                  <a:srgbClr val="F9F5EE"/>
                </a:solidFill>
                <a:latin typeface="JetBrains Mono"/>
                <a:cs typeface="JetBrains Mono"/>
              </a:rPr>
              <a:t># Clouds caches image tags on nodes &amp; rejects :latest/:main.
# Bump version tag (e.g. 1.0.2 -&gt; 1.0.3) on every change:
acc services deploy cmvbx1b1016uebs1u7l6ge6p7 \
  --image ttl.sh/root2-mahateer-web-1.0.3:24h -y
acc services deploy cmvbwfap014pibs1u7pxz2e5k \
  --image ttl.sh/root2-mahateer-api-1.0.3:24h -y
# View live structured JSON logs:
acc services logs cmvbwfap014pibs1u7pxz2e5k
# Instant rollback to previous known-good tag:
acc services deploy cmvbwfap014pibs1u7pxz2e5k \
  --image ttl.sh/root2-mahateer-api-1.0.2:24h -y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20000" y="900000"/>
            <a:ext cx="5300000" cy="3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E4200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BE4200"/>
                </a:solidFill>
                <a:latin typeface="JetBrains Mono"/>
                <a:cs typeface="JetBrains Mono"/>
              </a:rPr>
              <a:t>TRANSPARENCY · KNOWN LIMITATIONS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800" b="1" i="0" dirty="0">
                <a:solidFill>
                  <a:srgbClr val="0000AF"/>
                </a:solidFill>
                <a:latin typeface="Instrument Sans"/>
                <a:cs typeface="Instrument Sans"/>
              </a:rPr>
              <a:t>Honest Engineering Boundaries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1A1A1A"/>
                </a:solidFill>
                <a:latin typeface="Instrument Sans"/>
                <a:cs typeface="Instrument Sans"/>
              </a:rPr>
              <a:t>• Ephemeral OCI Registry (ttl.sh): 24h tags expire after 24 hours; trigger deploy-images.yml before redeploying after 24h.
• Single-Instance Process State: SEC-20 session token buckets run in process memory (--workers 1) and reset on container restart.
• Apps Script Redirect Latency: 2–19 s per call; bounded by 45 s timeouts and read-back reconciliation (AMD-20).
• Scoped Exclusions (AMD-15/17/18): Data overlays, Slack webhooks, and self-registration UI remain deferred.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20000" y="4450000"/>
            <a:ext cx="5300000" cy="1650000"/>
          </a:xfrm>
          <a:prstGeom prst="roundRect">
            <a:avLst>
              <a:gd name="adj" fmla="val 8000"/>
            </a:avLst>
          </a:prstGeom>
          <a:solidFill>
            <a:srgbClr val="C8E0E4"/>
          </a:solidFill>
          <a:ln w="15875">
            <a:solidFill>
              <a:srgbClr val="000AFF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0000AF"/>
                </a:solidFill>
                <a:latin typeface="JetBrains Mono"/>
                <a:cs typeface="JetBrains Mono"/>
              </a:rPr>
              <a:t>SAFE SCHEMA ROLLBACK CONTRACT (R-14)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0" i="0" dirty="0">
                <a:solidFill>
                  <a:srgbClr val="1A1A1A"/>
                </a:solidFill>
                <a:latin typeface="Instrument Sans"/>
                <a:cs typeface="Instrument Sans"/>
              </a:rPr>
              <a:t>Container image rollbacks do not auto-downgrade PostgreSQL. All Alembic migrations follow expand → migrate → contract so previous image tags stay compatible with the live schema.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0000" y="6380000"/>
            <a:ext cx="8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0" i="0" dirty="0">
                <a:solidFill>
                  <a:srgbClr val="0000AF"/>
                </a:solidFill>
                <a:latin typeface="JetBrains Mono"/>
                <a:cs typeface="JetBrains Mono"/>
              </a:rPr>
              <a:t>Biztective (ROOT 2.0)  ·  Clouds by Alternate Futures  ·  https://root-web-app.alternatefutures.ai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00000" y="6380000"/>
            <a:ext cx="115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1" i="0" dirty="0">
                <a:solidFill>
                  <a:srgbClr val="0000AF"/>
                </a:solidFill>
                <a:latin typeface="JetBrains Mono"/>
                <a:cs typeface="JetBrains Mono"/>
              </a:rPr>
              <a:t>SLIDE 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 Star 2"/>
          <p:cNvSpPr/>
          <p:nvPr/>
        </p:nvSpPr>
        <p:spPr>
          <a:xfrm>
            <a:off x="9500000" y="950000"/>
            <a:ext cx="420000" cy="420000"/>
          </a:xfrm>
          <a:prstGeom prst="star4">
            <a:avLst>
              <a:gd name="adj" fmla="val 18000"/>
            </a:avLst>
          </a:prstGeom>
          <a:solidFill>
            <a:srgbClr val="F9F5EE">
              <a:alpha val="16000"/>
            </a:srgbClr>
          </a:solidFill>
          <a:ln>
            <a:noFill/>
          </a:ln>
        </p:spPr>
      </p:sp>
      <p:sp>
        <p:nvSpPr>
          <p:cNvPr id="3" name="AF Star 3"/>
          <p:cNvSpPr/>
          <p:nvPr/>
        </p:nvSpPr>
        <p:spPr>
          <a:xfrm>
            <a:off x="10900000" y="2300000"/>
            <a:ext cx="240000" cy="240000"/>
          </a:xfrm>
          <a:prstGeom prst="star4">
            <a:avLst>
              <a:gd name="adj" fmla="val 18000"/>
            </a:avLst>
          </a:prstGeom>
          <a:solidFill>
            <a:srgbClr val="FFC7AA">
              <a:alpha val="22000"/>
            </a:srgbClr>
          </a:solidFill>
          <a:ln>
            <a:noFill/>
          </a:ln>
        </p:spPr>
      </p:sp>
      <p:sp>
        <p:nvSpPr>
          <p:cNvPr id="4" name="AF Star 4"/>
          <p:cNvSpPr/>
          <p:nvPr/>
        </p:nvSpPr>
        <p:spPr>
          <a:xfrm>
            <a:off x="1200000" y="4800000"/>
            <a:ext cx="680000" cy="680000"/>
          </a:xfrm>
          <a:prstGeom prst="star4">
            <a:avLst>
              <a:gd name="adj" fmla="val 18000"/>
            </a:avLst>
          </a:prstGeom>
          <a:solidFill>
            <a:srgbClr val="F9F5EE">
              <a:alpha val="10000"/>
            </a:srgbClr>
          </a:solidFill>
          <a:ln>
            <a:noFill/>
          </a:ln>
        </p:spPr>
      </p:sp>
      <p:sp>
        <p:nvSpPr>
          <p:cNvPr id="5" name="AF Ring 5"/>
          <p:cNvSpPr/>
          <p:nvPr/>
        </p:nvSpPr>
        <p:spPr>
          <a:xfrm>
            <a:off x="10300000" y="-500000"/>
            <a:ext cx="2200000" cy="2200000"/>
          </a:xfrm>
          <a:prstGeom prst="ellipse">
            <a:avLst/>
          </a:prstGeom>
          <a:noFill/>
          <a:ln w="38100">
            <a:solidFill>
              <a:srgbClr val="FFC7AA">
                <a:alpha val="18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640000" y="280000"/>
            <a:ext cx="68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100" b="1" i="0" dirty="0">
                <a:solidFill>
                  <a:srgbClr val="FFC7AA"/>
                </a:solidFill>
                <a:latin typeface="JetBrains Mono"/>
                <a:cs typeface="JetBrains Mono"/>
              </a:rPr>
              <a:t>ALTERNATE FUTURES  ·  09 · VERIFY THE LIVE DEPLOYMENT NOW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00000" y="260000"/>
            <a:ext cx="3350000" cy="380000"/>
          </a:xfrm>
          <a:prstGeom prst="roundRect">
            <a:avLst>
              <a:gd name="adj" fmla="val 16000"/>
            </a:avLst>
          </a:prstGeom>
          <a:solidFill>
            <a:srgbClr val="FFC7AA"/>
          </a:solidFill>
          <a:ln>
            <a:noFill/>
          </a:ln>
        </p:spPr>
        <p:txBody>
          <a:bodyPr wrap="square" lIns="110000" tIns="70000" rIns="110000" bIns="7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0000AF"/>
                </a:solidFill>
                <a:latin typeface="JetBrains Mono"/>
                <a:cs typeface="JetBrains Mono"/>
              </a:rPr>
              <a:t>Live on Clouds by Alternate Futures</a:t>
            </a:r>
          </a:p>
        </p:txBody>
      </p:sp>
      <p:sp>
        <p:nvSpPr>
          <p:cNvPr id="8" name="Rect 8"/>
          <p:cNvSpPr/>
          <p:nvPr/>
        </p:nvSpPr>
        <p:spPr>
          <a:xfrm>
            <a:off x="640000" y="740000"/>
            <a:ext cx="10912000" cy="12700"/>
          </a:xfrm>
          <a:prstGeom prst="rect">
            <a:avLst/>
          </a:prstGeom>
          <a:solidFill>
            <a:srgbClr val="F9F5EE">
              <a:alpha val="2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40000" y="980000"/>
            <a:ext cx="10600000" cy="1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3400" b="1" i="0" dirty="0">
                <a:solidFill>
                  <a:srgbClr val="FFFFFF"/>
                </a:solidFill>
                <a:latin typeface="Instrument Sans"/>
                <a:cs typeface="Instrument Sans"/>
              </a:rPr>
              <a:t>Try Biztective Live on Clouds by Alternate Futures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800" b="0" i="1" dirty="0">
                <a:solidFill>
                  <a:srgbClr val="FFC7AA"/>
                </a:solidFill>
                <a:latin typeface="Instrument Serif"/>
                <a:cs typeface="Instrument Serif"/>
              </a:rPr>
              <a:t>"Infrastructure that flows, not locks — paired with financial root-cause analysis you can audit down to the row."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0000" y="2850000"/>
            <a:ext cx="10880000" cy="155000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 w="15875">
            <a:solidFill>
              <a:srgbClr val="FFC7AA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0" i="0" dirty="0">
                <a:solidFill>
                  <a:srgbClr val="A5B2FF"/>
                </a:solidFill>
                <a:latin typeface="JetBrains Mono"/>
                <a:cs typeface="JetBrains Mono"/>
              </a:rPr>
              <a:t># Verify live readiness &amp; PostgreSQL RLS role invariants: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1" i="0" dirty="0">
                <a:solidFill>
                  <a:srgbClr val="FFC7AA"/>
                </a:solidFill>
                <a:latin typeface="JetBrains Mono"/>
                <a:cs typeface="JetBrains Mono"/>
              </a:rPr>
              <a:t>curl -sS https://root-web-app.alternatefutures.ai/api/v1/readyz   # -&gt; {"status":"ready"}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0" i="0" dirty="0">
                <a:solidFill>
                  <a:srgbClr val="A5B2FF"/>
                </a:solidFill>
                <a:latin typeface="JetBrains Mono"/>
                <a:cs typeface="JetBrains Mono"/>
              </a:rPr>
              <a:t># Run end-to-end Playwright browser tests against the deployed Clouds URL: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200" b="1" i="0" dirty="0">
                <a:solidFill>
                  <a:srgbClr val="FFC7AA"/>
                </a:solidFill>
                <a:latin typeface="JetBrains Mono"/>
                <a:cs typeface="JetBrains Mono"/>
              </a:rPr>
              <a:t>PLAYWRIGHT_REMOTE_URL=https://root-web-app.alternatefutures.ai npx playwright test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0000" y="4650000"/>
            <a:ext cx="3500000" cy="1450000"/>
          </a:xfrm>
          <a:prstGeom prst="roundRect">
            <a:avLst>
              <a:gd name="adj" fmla="val 8000"/>
            </a:avLst>
          </a:prstGeom>
          <a:solidFill>
            <a:srgbClr val="0000AF"/>
          </a:solidFill>
          <a:ln w="15875">
            <a:solidFill>
              <a:srgbClr val="FFC7AA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FFC7AA"/>
                </a:solidFill>
                <a:latin typeface="JetBrains Mono"/>
                <a:cs typeface="JetBrains Mono"/>
              </a:rPr>
              <a:t>PUBLIC WEB APP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300" b="1" i="0" dirty="0">
                <a:solidFill>
                  <a:srgbClr val="FFFFFF"/>
                </a:solidFill>
                <a:latin typeface="JetBrains Mono"/>
                <a:cs typeface="JetBrains Mono"/>
              </a:rPr>
              <a:t>https://root-web-app.alternatefutures.ai/login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20000" y="4650000"/>
            <a:ext cx="3500000" cy="1450000"/>
          </a:xfrm>
          <a:prstGeom prst="roundRect">
            <a:avLst>
              <a:gd name="adj" fmla="val 8000"/>
            </a:avLst>
          </a:prstGeom>
          <a:solidFill>
            <a:srgbClr val="0000AF"/>
          </a:solidFill>
          <a:ln w="15875">
            <a:solidFill>
              <a:srgbClr val="FFC7AA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FFC7AA"/>
                </a:solidFill>
                <a:latin typeface="JetBrains Mono"/>
                <a:cs typeface="JetBrains Mono"/>
              </a:rPr>
              <a:t>SEEDED DEMO OWNER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300" b="1" i="0" dirty="0">
                <a:solidFill>
                  <a:srgbClr val="FFFFFF"/>
                </a:solidFill>
                <a:latin typeface="JetBrains Mono"/>
                <a:cs typeface="JetBrains Mono"/>
              </a:rPr>
              <a:t>demo.owner@root-demo.test (Northstar Apparel)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00000" y="4650000"/>
            <a:ext cx="3500000" cy="1450000"/>
          </a:xfrm>
          <a:prstGeom prst="roundRect">
            <a:avLst>
              <a:gd name="adj" fmla="val 8000"/>
            </a:avLst>
          </a:prstGeom>
          <a:solidFill>
            <a:srgbClr val="0000AF"/>
          </a:solidFill>
          <a:ln w="15875">
            <a:solidFill>
              <a:srgbClr val="FFC7AA"/>
            </a:solidFill>
          </a:ln>
        </p:spPr>
        <p:txBody>
          <a:bodyPr wrap="square" lIns="140000" tIns="110000" rIns="140000" bIns="11000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000" b="1" i="0" dirty="0">
                <a:solidFill>
                  <a:srgbClr val="FFC7AA"/>
                </a:solidFill>
                <a:latin typeface="JetBrains Mono"/>
                <a:cs typeface="JetBrains Mono"/>
              </a:rPr>
              <a:t>DEPLOYMENT RUNBOOK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1300" b="1" i="0" dirty="0">
                <a:solidFill>
                  <a:srgbClr val="FFFFFF"/>
                </a:solidFill>
                <a:latin typeface="JetBrains Mono"/>
                <a:cs typeface="JetBrains Mono"/>
              </a:rPr>
              <a:t>docs/DEPLOYMENT_GUIDE.md · AMD-22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0000" y="6380000"/>
            <a:ext cx="8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0" i="0" dirty="0">
                <a:solidFill>
                  <a:srgbClr val="FFC7AA"/>
                </a:solidFill>
                <a:latin typeface="JetBrains Mono"/>
                <a:cs typeface="JetBrains Mono"/>
              </a:rPr>
              <a:t>Biztective (ROOT 2.0)  ·  Clouds by Alternate Futures  ·  https://root-web-app.alternatefutures.ai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00000" y="6380000"/>
            <a:ext cx="1152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en-US" sz="900" b="1" i="0" dirty="0">
                <a:solidFill>
                  <a:srgbClr val="FFC7AA"/>
                </a:solidFill>
                <a:latin typeface="JetBrains Mono"/>
                <a:cs typeface="JetBrains Mono"/>
              </a:rPr>
              <a:t>SLIDE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ternate Futures Brand Theme">
  <a:themeElements>
    <a:clrScheme name="Alternate Futures">
      <a:dk1>
        <a:srgbClr val="1A1A1A"/>
      </a:dk1>
      <a:lt1>
        <a:srgbClr val="F9F5EE"/>
      </a:lt1>
      <a:dk2>
        <a:srgbClr val="0000AF"/>
      </a:dk2>
      <a:lt2>
        <a:srgbClr val="FFFFFF"/>
      </a:lt2>
      <a:accent1>
        <a:srgbClr val="000AFF"/>
      </a:accent1>
      <a:accent2>
        <a:srgbClr val="0000AF"/>
      </a:accent2>
      <a:accent3>
        <a:srgbClr val="BE4200"/>
      </a:accent3>
      <a:accent4>
        <a:srgbClr val="A5B2FF"/>
      </a:accent4>
      <a:accent5>
        <a:srgbClr val="FFC7AA"/>
      </a:accent5>
      <a:accent6>
        <a:srgbClr val="C8E0E4"/>
      </a:accent6>
      <a:hlink>
        <a:srgbClr val="000AFF"/>
      </a:hlink>
      <a:folHlink>
        <a:srgbClr val="0000AF"/>
      </a:folHlink>
    </a:clrScheme>
    <a:fontScheme name="Alternate Futures Fonts">
      <a:majorFont>
        <a:latin typeface="Instrument Sans"/>
        <a:ea typeface=""/>
        <a:cs typeface=""/>
      </a:majorFont>
      <a:minorFont>
        <a:latin typeface="Instrument Sans"/>
        <a:ea typeface=""/>
        <a:cs typeface=""/>
      </a:minorFont>
    </a:fontScheme>
    <a:fmtScheme name="Alternate Futures 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